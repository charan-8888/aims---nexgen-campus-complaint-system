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DC8C61D-B5C1-3713-B094-EF0F5F8E4D3E}">
          <p14:sldIdLst>
            <p14:sldId id="256"/>
          </p14:sldIdLst>
        </p14:section>
        <p14:section name="Project" id="{53E9E45C-9ADC-D01D-CC87-8F289022E891}">
          <p14:sldIdLst>
            <p14:sldId id="257"/>
            <p14:sldId id="258"/>
            <p14:sldId id="259"/>
            <p14:sldId id="260"/>
          </p14:sldIdLst>
        </p14:section>
        <p14:section name="Results" id="{5ECD660E-8906-B4BA-62CB-8DD2F02123BE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35172DA0-D1F3-89C7-A228-91B99CC2377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25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team and mentor. One-line pitch: students report a campus problem, the AI understands it, and the right technician is assigned and tracked until it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first: manual complaint handling is slow and untraceable. Then walk the four goals left to right: report, sort with AI, track, 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the six stages we followed while building. Bottom row: what happens to a single complaint in the live system, from the student's report to the final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in plain language: React is what users see, Express is the logic, MongoDB stores the data, Groq is the AI, Cloudinary stores photos, JWT keeps logins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yellow arrows: User, Frontend, Backend, Database. The backend also talks to two outside services: Groq for AI analysis and Cloudinary for photos. The green arrow shows the response returning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dashed box with a real screenshot from the running app (login, student home, complaint form, manager assignment view, admin dashboard, resolved complaint with rating). Demo order: README 'Demo Flow'.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every role has its own view and permissions. Mention the AI backup rules: if the AI service is offline, simple keyword rules still classify the complaint.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8 scenarios cover the whole demo flow. Before presenting, run each one (README Demo Flow), then replace the amber cells with the real outcome (for example 'Dashboard opened' / Pass).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amber blanks with your measured values before presenting. Quick way: use Postman for API time, the browser Network tab for page load, count Pass results from the testing slide, and error rate = failed / total x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numbers come from the project documentation (README): roles, data models, API endpoints, analytics queries, lifecycle stages and categories. Then contrast the old manual process with the new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outcome: complaints are now reported, sorted by AI, assigned, fixed and verified in one place.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CFF02"/>
                </a:solidFill>
              </a:rPr>
              <a:t>PBL REVIEW–4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EC8"/>
                </a:solidFill>
              </a:rPr>
              <a:t>AIMS-Campus  •  AI-Powered Intelligent Maintenance &amp; Smart Complaint Management System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PROJECT-BASED LEARNING  •  REVIEW–4</a:t>
            </a:r>
            <a:endParaRPr lang="en-US" sz="14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10058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AIMS-</a:t>
            </a:r>
            <a:r>
              <a:rPr lang="en-US" sz="7200" b="1" dirty="0">
                <a:solidFill>
                  <a:schemeClr val="tx1"/>
                </a:solidFill>
              </a:rPr>
              <a:t>Campus</a:t>
            </a:r>
            <a:endParaRPr lang="en-US" sz="72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AI-Powered Intelligent Maintenance &amp; Smart Complaint Management System</a:t>
            </a:r>
            <a:endParaRPr lang="en-US" sz="2600" dirty="0"/>
          </a:p>
        </p:txBody>
      </p:sp>
      <p:sp>
        <p:nvSpPr>
          <p:cNvPr id="5" name="text-4"/>
          <p:cNvSpPr txBox="1"/>
          <p:nvPr/>
        </p:nvSpPr>
        <p:spPr>
          <a:xfrm>
            <a:off x="548640" y="3154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 smart system where students report campus problems and AI sends each one to the right maintenance team.</a:t>
            </a:r>
            <a:endParaRPr lang="en-US" sz="1800" dirty="0"/>
          </a:p>
        </p:txBody>
      </p:sp>
      <p:sp>
        <p:nvSpPr>
          <p:cNvPr id="6" name="card-5"/>
          <p:cNvSpPr/>
          <p:nvPr/>
        </p:nvSpPr>
        <p:spPr>
          <a:xfrm>
            <a:off x="548640" y="4251960"/>
            <a:ext cx="4114800" cy="1950432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-6"/>
          <p:cNvSpPr txBox="1"/>
          <p:nvPr/>
        </p:nvSpPr>
        <p:spPr>
          <a:xfrm>
            <a:off x="82296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TEAM</a:t>
            </a:r>
            <a:endParaRPr lang="en-US" sz="1300" dirty="0"/>
          </a:p>
        </p:txBody>
      </p:sp>
      <p:sp>
        <p:nvSpPr>
          <p:cNvPr id="8" name="text-7"/>
          <p:cNvSpPr txBox="1"/>
          <p:nvPr/>
        </p:nvSpPr>
        <p:spPr>
          <a:xfrm>
            <a:off x="822960" y="48006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Indrakaranreddy (2510030148)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Gaurav Sri Harsha (2510030268)</a:t>
            </a:r>
            <a:br>
              <a:rPr lang="en-US" sz="1500" dirty="0">
                <a:solidFill>
                  <a:schemeClr val="tx1"/>
                </a:solidFill>
              </a:rPr>
            </a:br>
            <a:r>
              <a:rPr lang="en-US" sz="1500" dirty="0">
                <a:solidFill>
                  <a:schemeClr val="tx1"/>
                </a:solidFill>
              </a:rPr>
              <a:t>Yagneshwar Reddy (2510030394)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Hemanth Goud (2510030326)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Arabati Charan</a:t>
            </a:r>
            <a:br>
              <a:rPr lang="en-US" sz="1500" dirty="0">
                <a:solidFill>
                  <a:schemeClr val="tx1"/>
                </a:solidFill>
              </a:rPr>
            </a:br>
            <a:endParaRPr lang="en-US" sz="1500" dirty="0"/>
          </a:p>
        </p:txBody>
      </p:sp>
      <p:sp>
        <p:nvSpPr>
          <p:cNvPr id="9" name="card-8"/>
          <p:cNvSpPr/>
          <p:nvPr/>
        </p:nvSpPr>
        <p:spPr>
          <a:xfrm>
            <a:off x="4937760" y="4251960"/>
            <a:ext cx="29260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-9"/>
          <p:cNvSpPr txBox="1"/>
          <p:nvPr/>
        </p:nvSpPr>
        <p:spPr>
          <a:xfrm>
            <a:off x="521208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MENTOR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5212080" y="4800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Dr. Rafeeq</a:t>
            </a:r>
            <a:endParaRPr lang="en-US" sz="1500" dirty="0"/>
          </a:p>
        </p:txBody>
      </p:sp>
      <p:sp>
        <p:nvSpPr>
          <p:cNvPr id="12" name="card-11"/>
          <p:cNvSpPr/>
          <p:nvPr/>
        </p:nvSpPr>
        <p:spPr>
          <a:xfrm>
            <a:off x="8138160" y="4251960"/>
            <a:ext cx="35021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12"/>
          <p:cNvSpPr txBox="1"/>
          <p:nvPr/>
        </p:nvSpPr>
        <p:spPr>
          <a:xfrm>
            <a:off x="8412480" y="44348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ACADEMIC DETAILS</a:t>
            </a:r>
            <a:endParaRPr lang="en-US" sz="1300" dirty="0"/>
          </a:p>
        </p:txBody>
      </p:sp>
      <p:sp>
        <p:nvSpPr>
          <p:cNvPr id="14" name="text-13"/>
          <p:cNvSpPr txBox="1"/>
          <p:nvPr/>
        </p:nvSpPr>
        <p:spPr>
          <a:xfrm>
            <a:off x="8412480" y="48006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Department of Computer Science Engineering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 L University, Hyderabad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Academic Year 2026–27</a:t>
            </a:r>
            <a:endParaRPr lang="en-US" sz="1500" dirty="0"/>
          </a:p>
        </p:txBody>
      </p:sp>
      <p:sp>
        <p:nvSpPr>
          <p:cNvPr id="15" name="text-1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/>
                </a:solidFill>
              </a:rPr>
              <a:t>DATABASE &amp; BACKEND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Project Objectives</a:t>
            </a:r>
            <a:endParaRPr lang="en-US" sz="3800" dirty="0"/>
          </a:p>
        </p:txBody>
      </p:sp>
      <p:sp>
        <p:nvSpPr>
          <p:cNvPr id="3" name="card-15"/>
          <p:cNvSpPr/>
          <p:nvPr/>
        </p:nvSpPr>
        <p:spPr>
          <a:xfrm>
            <a:off x="548640" y="1463040"/>
            <a:ext cx="2569464" cy="269748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adge-16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-18"/>
          <p:cNvSpPr txBox="1"/>
          <p:nvPr/>
        </p:nvSpPr>
        <p:spPr>
          <a:xfrm>
            <a:off x="822960" y="25603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accent1"/>
                </a:solidFill>
              </a:rPr>
              <a:t>01  REPORT</a:t>
            </a:r>
            <a:endParaRPr lang="en-US" sz="1500" dirty="0"/>
          </a:p>
        </p:txBody>
      </p:sp>
      <p:sp>
        <p:nvSpPr>
          <p:cNvPr id="7" name="text-19"/>
          <p:cNvSpPr txBox="1"/>
          <p:nvPr/>
        </p:nvSpPr>
        <p:spPr>
          <a:xfrm>
            <a:off x="822960" y="2926080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place for students to report any campus problem, with a photo.</a:t>
            </a:r>
            <a:endParaRPr lang="en-US" sz="1500" dirty="0"/>
          </a:p>
        </p:txBody>
      </p:sp>
      <p:sp>
        <p:nvSpPr>
          <p:cNvPr id="8" name="card-20"/>
          <p:cNvSpPr/>
          <p:nvPr/>
        </p:nvSpPr>
        <p:spPr>
          <a:xfrm>
            <a:off x="3392424" y="1463040"/>
            <a:ext cx="2569464" cy="269748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badge-21"/>
          <p:cNvSpPr/>
          <p:nvPr/>
        </p:nvSpPr>
        <p:spPr>
          <a:xfrm>
            <a:off x="3666744" y="1691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194" y="1863090"/>
            <a:ext cx="342900" cy="342900"/>
          </a:xfrm>
          <a:prstGeom prst="rect">
            <a:avLst/>
          </a:prstGeom>
        </p:spPr>
      </p:pic>
      <p:sp>
        <p:nvSpPr>
          <p:cNvPr id="11" name="text-23"/>
          <p:cNvSpPr txBox="1"/>
          <p:nvPr/>
        </p:nvSpPr>
        <p:spPr>
          <a:xfrm>
            <a:off x="3666744" y="25603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accent2"/>
                </a:solidFill>
              </a:rPr>
              <a:t>02  SORT WITH AI</a:t>
            </a:r>
            <a:endParaRPr lang="en-US" sz="1500" dirty="0"/>
          </a:p>
        </p:txBody>
      </p:sp>
      <p:sp>
        <p:nvSpPr>
          <p:cNvPr id="12" name="text-24"/>
          <p:cNvSpPr txBox="1"/>
          <p:nvPr/>
        </p:nvSpPr>
        <p:spPr>
          <a:xfrm>
            <a:off x="3666744" y="2926080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AI reads the complaint and picks its type, urgency and department.</a:t>
            </a:r>
            <a:endParaRPr lang="en-US" sz="1500" dirty="0"/>
          </a:p>
        </p:txBody>
      </p:sp>
      <p:sp>
        <p:nvSpPr>
          <p:cNvPr id="13" name="card-25"/>
          <p:cNvSpPr/>
          <p:nvPr/>
        </p:nvSpPr>
        <p:spPr>
          <a:xfrm>
            <a:off x="6236208" y="1463040"/>
            <a:ext cx="2569464" cy="269748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badge-26"/>
          <p:cNvSpPr/>
          <p:nvPr/>
        </p:nvSpPr>
        <p:spPr>
          <a:xfrm>
            <a:off x="6510528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978" y="1863090"/>
            <a:ext cx="342900" cy="342900"/>
          </a:xfrm>
          <a:prstGeom prst="rect">
            <a:avLst/>
          </a:prstGeom>
        </p:spPr>
      </p:pic>
      <p:sp>
        <p:nvSpPr>
          <p:cNvPr id="16" name="text-28"/>
          <p:cNvSpPr txBox="1"/>
          <p:nvPr/>
        </p:nvSpPr>
        <p:spPr>
          <a:xfrm>
            <a:off x="6510528" y="25603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accent1"/>
                </a:solidFill>
              </a:rPr>
              <a:t>03  TRACK</a:t>
            </a:r>
            <a:endParaRPr lang="en-US" sz="1500" dirty="0"/>
          </a:p>
        </p:txBody>
      </p:sp>
      <p:sp>
        <p:nvSpPr>
          <p:cNvPr id="17" name="text-29"/>
          <p:cNvSpPr txBox="1"/>
          <p:nvPr/>
        </p:nvSpPr>
        <p:spPr>
          <a:xfrm>
            <a:off x="6510528" y="2926080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complaint is followed from Pending to Verified, with deadlines.</a:t>
            </a:r>
            <a:endParaRPr lang="en-US" sz="1500" dirty="0"/>
          </a:p>
        </p:txBody>
      </p:sp>
      <p:sp>
        <p:nvSpPr>
          <p:cNvPr id="18" name="card-30"/>
          <p:cNvSpPr/>
          <p:nvPr/>
        </p:nvSpPr>
        <p:spPr>
          <a:xfrm>
            <a:off x="9079992" y="1463040"/>
            <a:ext cx="2569464" cy="269748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badge-31"/>
          <p:cNvSpPr/>
          <p:nvPr/>
        </p:nvSpPr>
        <p:spPr>
          <a:xfrm>
            <a:off x="9354312" y="1691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-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762" y="1863090"/>
            <a:ext cx="342900" cy="342900"/>
          </a:xfrm>
          <a:prstGeom prst="rect">
            <a:avLst/>
          </a:prstGeom>
        </p:spPr>
      </p:pic>
      <p:sp>
        <p:nvSpPr>
          <p:cNvPr id="21" name="text-33"/>
          <p:cNvSpPr txBox="1"/>
          <p:nvPr/>
        </p:nvSpPr>
        <p:spPr>
          <a:xfrm>
            <a:off x="9354312" y="25603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accent2"/>
                </a:solidFill>
              </a:rPr>
              <a:t>04  ANALYZE</a:t>
            </a:r>
            <a:endParaRPr lang="en-US" sz="1500" dirty="0"/>
          </a:p>
        </p:txBody>
      </p:sp>
      <p:sp>
        <p:nvSpPr>
          <p:cNvPr id="22" name="text-34"/>
          <p:cNvSpPr txBox="1"/>
          <p:nvPr/>
        </p:nvSpPr>
        <p:spPr>
          <a:xfrm>
            <a:off x="9354312" y="2926080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Dashboards show trends, staff workload and delays to managers.</a:t>
            </a:r>
            <a:endParaRPr lang="en-US" sz="1500" dirty="0"/>
          </a:p>
        </p:txBody>
      </p:sp>
      <p:sp>
        <p:nvSpPr>
          <p:cNvPr id="23" name="card-35"/>
          <p:cNvSpPr/>
          <p:nvPr/>
        </p:nvSpPr>
        <p:spPr>
          <a:xfrm>
            <a:off x="548640" y="4434840"/>
            <a:ext cx="540867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-36"/>
          <p:cNvSpPr txBox="1"/>
          <p:nvPr/>
        </p:nvSpPr>
        <p:spPr>
          <a:xfrm>
            <a:off x="822960" y="4590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25" name="text-37"/>
          <p:cNvSpPr txBox="1"/>
          <p:nvPr/>
        </p:nvSpPr>
        <p:spPr>
          <a:xfrm>
            <a:off x="82296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Complaints sent on paper or by phone get lost. Nobody knows who is fixing what, and urgent issues wait in the same line as small ones.</a:t>
            </a:r>
            <a:endParaRPr lang="en-US" sz="1500" dirty="0"/>
          </a:p>
        </p:txBody>
      </p:sp>
      <p:sp>
        <p:nvSpPr>
          <p:cNvPr id="26" name="card-38"/>
          <p:cNvSpPr/>
          <p:nvPr/>
        </p:nvSpPr>
        <p:spPr>
          <a:xfrm>
            <a:off x="6231636" y="4434840"/>
            <a:ext cx="540867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-39"/>
          <p:cNvSpPr txBox="1"/>
          <p:nvPr/>
        </p:nvSpPr>
        <p:spPr>
          <a:xfrm>
            <a:off x="6505956" y="4590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28" name="text-40"/>
          <p:cNvSpPr txBox="1"/>
          <p:nvPr/>
        </p:nvSpPr>
        <p:spPr>
          <a:xfrm>
            <a:off x="6505956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AIMS-Campus is one system to report, sort, assign, fix and verify every complaint, with AI deciding what is urgent.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Project Development Approach</a:t>
            </a:r>
            <a:endParaRPr lang="en-US" sz="3800" dirty="0"/>
          </a:p>
        </p:txBody>
      </p:sp>
      <p:sp>
        <p:nvSpPr>
          <p:cNvPr id="3" name="text-41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HOW WE BUILT IT</a:t>
            </a:r>
            <a:endParaRPr lang="en-US" sz="1400" dirty="0"/>
          </a:p>
        </p:txBody>
      </p:sp>
      <p:sp>
        <p:nvSpPr>
          <p:cNvPr id="4" name="card-42"/>
          <p:cNvSpPr/>
          <p:nvPr/>
        </p:nvSpPr>
        <p:spPr>
          <a:xfrm>
            <a:off x="548640" y="1783080"/>
            <a:ext cx="1600200" cy="178308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num-43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44"/>
          <p:cNvSpPr txBox="1"/>
          <p:nvPr/>
        </p:nvSpPr>
        <p:spPr>
          <a:xfrm>
            <a:off x="7315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-45"/>
          <p:cNvSpPr txBox="1"/>
          <p:nvPr/>
        </p:nvSpPr>
        <p:spPr>
          <a:xfrm>
            <a:off x="73152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Understand the Problem</a:t>
            </a:r>
            <a:endParaRPr lang="en-US" sz="1500" dirty="0"/>
          </a:p>
        </p:txBody>
      </p:sp>
      <p:sp>
        <p:nvSpPr>
          <p:cNvPr id="8" name="text-46"/>
          <p:cNvSpPr txBox="1"/>
          <p:nvPr/>
        </p:nvSpPr>
        <p:spPr>
          <a:xfrm>
            <a:off x="731520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List what users need</a:t>
            </a:r>
            <a:endParaRPr lang="en-US" sz="1200" dirty="0"/>
          </a:p>
        </p:txBody>
      </p:sp>
      <p:sp>
        <p:nvSpPr>
          <p:cNvPr id="9" name="text-47"/>
          <p:cNvSpPr txBox="1"/>
          <p:nvPr/>
        </p:nvSpPr>
        <p:spPr>
          <a:xfrm>
            <a:off x="2148840" y="2423160"/>
            <a:ext cx="2980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card-48"/>
          <p:cNvSpPr/>
          <p:nvPr/>
        </p:nvSpPr>
        <p:spPr>
          <a:xfrm>
            <a:off x="2446934" y="1783080"/>
            <a:ext cx="1600200" cy="178308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um-49"/>
          <p:cNvSpPr/>
          <p:nvPr/>
        </p:nvSpPr>
        <p:spPr>
          <a:xfrm>
            <a:off x="2629814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50"/>
          <p:cNvSpPr txBox="1"/>
          <p:nvPr/>
        </p:nvSpPr>
        <p:spPr>
          <a:xfrm>
            <a:off x="262981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-51"/>
          <p:cNvSpPr txBox="1"/>
          <p:nvPr/>
        </p:nvSpPr>
        <p:spPr>
          <a:xfrm>
            <a:off x="2629814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Design the Database</a:t>
            </a:r>
            <a:endParaRPr lang="en-US" sz="1500" dirty="0"/>
          </a:p>
        </p:txBody>
      </p:sp>
      <p:sp>
        <p:nvSpPr>
          <p:cNvPr id="14" name="text-52"/>
          <p:cNvSpPr txBox="1"/>
          <p:nvPr/>
        </p:nvSpPr>
        <p:spPr>
          <a:xfrm>
            <a:off x="2629814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Plan how data is stored</a:t>
            </a:r>
            <a:endParaRPr lang="en-US" sz="1200" dirty="0"/>
          </a:p>
        </p:txBody>
      </p:sp>
      <p:sp>
        <p:nvSpPr>
          <p:cNvPr id="15" name="text-53"/>
          <p:cNvSpPr txBox="1"/>
          <p:nvPr/>
        </p:nvSpPr>
        <p:spPr>
          <a:xfrm>
            <a:off x="4047134" y="2423160"/>
            <a:ext cx="2980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card-54"/>
          <p:cNvSpPr/>
          <p:nvPr/>
        </p:nvSpPr>
        <p:spPr>
          <a:xfrm>
            <a:off x="4345229" y="1783080"/>
            <a:ext cx="1600200" cy="178308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um-55"/>
          <p:cNvSpPr/>
          <p:nvPr/>
        </p:nvSpPr>
        <p:spPr>
          <a:xfrm>
            <a:off x="4528109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56"/>
          <p:cNvSpPr txBox="1"/>
          <p:nvPr/>
        </p:nvSpPr>
        <p:spPr>
          <a:xfrm>
            <a:off x="4528109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-57"/>
          <p:cNvSpPr txBox="1"/>
          <p:nvPr/>
        </p:nvSpPr>
        <p:spPr>
          <a:xfrm>
            <a:off x="4528109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the Backend</a:t>
            </a:r>
            <a:endParaRPr lang="en-US" sz="1500" dirty="0"/>
          </a:p>
        </p:txBody>
      </p:sp>
      <p:sp>
        <p:nvSpPr>
          <p:cNvPr id="20" name="text-58"/>
          <p:cNvSpPr txBox="1"/>
          <p:nvPr/>
        </p:nvSpPr>
        <p:spPr>
          <a:xfrm>
            <a:off x="4528109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Rules and APIs</a:t>
            </a:r>
            <a:endParaRPr lang="en-US" sz="1200" dirty="0"/>
          </a:p>
        </p:txBody>
      </p:sp>
      <p:sp>
        <p:nvSpPr>
          <p:cNvPr id="21" name="text-59"/>
          <p:cNvSpPr txBox="1"/>
          <p:nvPr/>
        </p:nvSpPr>
        <p:spPr>
          <a:xfrm>
            <a:off x="5945429" y="2423160"/>
            <a:ext cx="2980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card-60"/>
          <p:cNvSpPr/>
          <p:nvPr/>
        </p:nvSpPr>
        <p:spPr>
          <a:xfrm>
            <a:off x="6243523" y="1783080"/>
            <a:ext cx="1600200" cy="178308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num-61"/>
          <p:cNvSpPr/>
          <p:nvPr/>
        </p:nvSpPr>
        <p:spPr>
          <a:xfrm>
            <a:off x="6426403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62"/>
          <p:cNvSpPr txBox="1"/>
          <p:nvPr/>
        </p:nvSpPr>
        <p:spPr>
          <a:xfrm>
            <a:off x="6426403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-63"/>
          <p:cNvSpPr txBox="1"/>
          <p:nvPr/>
        </p:nvSpPr>
        <p:spPr>
          <a:xfrm>
            <a:off x="6426403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the Frontend</a:t>
            </a:r>
            <a:endParaRPr lang="en-US" sz="1500" dirty="0"/>
          </a:p>
        </p:txBody>
      </p:sp>
      <p:sp>
        <p:nvSpPr>
          <p:cNvPr id="26" name="text-64"/>
          <p:cNvSpPr txBox="1"/>
          <p:nvPr/>
        </p:nvSpPr>
        <p:spPr>
          <a:xfrm>
            <a:off x="6426403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Screens for each role</a:t>
            </a:r>
            <a:endParaRPr lang="en-US" sz="1200" dirty="0"/>
          </a:p>
        </p:txBody>
      </p:sp>
      <p:sp>
        <p:nvSpPr>
          <p:cNvPr id="27" name="text-65"/>
          <p:cNvSpPr txBox="1"/>
          <p:nvPr/>
        </p:nvSpPr>
        <p:spPr>
          <a:xfrm>
            <a:off x="7843723" y="2423160"/>
            <a:ext cx="2980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card-66"/>
          <p:cNvSpPr/>
          <p:nvPr/>
        </p:nvSpPr>
        <p:spPr>
          <a:xfrm>
            <a:off x="8141818" y="1783080"/>
            <a:ext cx="1600200" cy="178308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num-67"/>
          <p:cNvSpPr/>
          <p:nvPr/>
        </p:nvSpPr>
        <p:spPr>
          <a:xfrm>
            <a:off x="8324698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68"/>
          <p:cNvSpPr txBox="1"/>
          <p:nvPr/>
        </p:nvSpPr>
        <p:spPr>
          <a:xfrm>
            <a:off x="832469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-69"/>
          <p:cNvSpPr txBox="1"/>
          <p:nvPr/>
        </p:nvSpPr>
        <p:spPr>
          <a:xfrm>
            <a:off x="8324698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the AI</a:t>
            </a:r>
            <a:endParaRPr lang="en-US" sz="1500" dirty="0"/>
          </a:p>
        </p:txBody>
      </p:sp>
      <p:sp>
        <p:nvSpPr>
          <p:cNvPr id="32" name="text-70"/>
          <p:cNvSpPr txBox="1"/>
          <p:nvPr/>
        </p:nvSpPr>
        <p:spPr>
          <a:xfrm>
            <a:off x="8324698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Connect Groq to sort complaints</a:t>
            </a:r>
            <a:endParaRPr lang="en-US" sz="1200" dirty="0"/>
          </a:p>
        </p:txBody>
      </p:sp>
      <p:sp>
        <p:nvSpPr>
          <p:cNvPr id="33" name="text-71"/>
          <p:cNvSpPr txBox="1"/>
          <p:nvPr/>
        </p:nvSpPr>
        <p:spPr>
          <a:xfrm>
            <a:off x="9742018" y="2423160"/>
            <a:ext cx="2980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card-72"/>
          <p:cNvSpPr/>
          <p:nvPr/>
        </p:nvSpPr>
        <p:spPr>
          <a:xfrm>
            <a:off x="10040112" y="1783080"/>
            <a:ext cx="1600200" cy="178308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num-73"/>
          <p:cNvSpPr/>
          <p:nvPr/>
        </p:nvSpPr>
        <p:spPr>
          <a:xfrm>
            <a:off x="10222992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-74"/>
          <p:cNvSpPr txBox="1"/>
          <p:nvPr/>
        </p:nvSpPr>
        <p:spPr>
          <a:xfrm>
            <a:off x="1022299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-75"/>
          <p:cNvSpPr txBox="1"/>
          <p:nvPr/>
        </p:nvSpPr>
        <p:spPr>
          <a:xfrm>
            <a:off x="10222992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&amp; Demo</a:t>
            </a:r>
            <a:endParaRPr lang="en-US" sz="1500" dirty="0"/>
          </a:p>
        </p:txBody>
      </p:sp>
      <p:sp>
        <p:nvSpPr>
          <p:cNvPr id="38" name="text-76"/>
          <p:cNvSpPr txBox="1"/>
          <p:nvPr/>
        </p:nvSpPr>
        <p:spPr>
          <a:xfrm>
            <a:off x="10222992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Check every feature</a:t>
            </a:r>
            <a:endParaRPr lang="en-US" sz="1200" dirty="0"/>
          </a:p>
        </p:txBody>
      </p:sp>
      <p:sp>
        <p:nvSpPr>
          <p:cNvPr id="39" name="text-77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HOW ONE COMPLAINT TRAVELS</a:t>
            </a:r>
            <a:endParaRPr lang="en-US" sz="1400" dirty="0"/>
          </a:p>
        </p:txBody>
      </p:sp>
      <p:sp>
        <p:nvSpPr>
          <p:cNvPr id="40" name="card-78"/>
          <p:cNvSpPr/>
          <p:nvPr/>
        </p:nvSpPr>
        <p:spPr>
          <a:xfrm>
            <a:off x="548640" y="4206240"/>
            <a:ext cx="1920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badge-79"/>
          <p:cNvSpPr/>
          <p:nvPr/>
        </p:nvSpPr>
        <p:spPr>
          <a:xfrm>
            <a:off x="731520" y="4370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-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07992"/>
            <a:ext cx="274320" cy="274320"/>
          </a:xfrm>
          <a:prstGeom prst="rect">
            <a:avLst/>
          </a:prstGeom>
        </p:spPr>
      </p:pic>
      <p:sp>
        <p:nvSpPr>
          <p:cNvPr id="43" name="text-81"/>
          <p:cNvSpPr txBox="1"/>
          <p:nvPr/>
        </p:nvSpPr>
        <p:spPr>
          <a:xfrm>
            <a:off x="731520" y="5029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Student reports</a:t>
            </a:r>
            <a:endParaRPr lang="en-US" sz="1500" dirty="0"/>
          </a:p>
        </p:txBody>
      </p:sp>
      <p:sp>
        <p:nvSpPr>
          <p:cNvPr id="44" name="text-82"/>
          <p:cNvSpPr txBox="1"/>
          <p:nvPr/>
        </p:nvSpPr>
        <p:spPr>
          <a:xfrm>
            <a:off x="731520" y="5376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Describes the issue and adds a photo</a:t>
            </a:r>
            <a:endParaRPr lang="en-US" sz="1200" dirty="0"/>
          </a:p>
        </p:txBody>
      </p:sp>
      <p:sp>
        <p:nvSpPr>
          <p:cNvPr id="45" name="text-83"/>
          <p:cNvSpPr txBox="1"/>
          <p:nvPr/>
        </p:nvSpPr>
        <p:spPr>
          <a:xfrm>
            <a:off x="2468880" y="4846320"/>
            <a:ext cx="372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46" name="card-84"/>
          <p:cNvSpPr/>
          <p:nvPr/>
        </p:nvSpPr>
        <p:spPr>
          <a:xfrm>
            <a:off x="2841498" y="4206240"/>
            <a:ext cx="1920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badge-85"/>
          <p:cNvSpPr/>
          <p:nvPr/>
        </p:nvSpPr>
        <p:spPr>
          <a:xfrm>
            <a:off x="3024378" y="43708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8" name="icon-8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538" y="4507992"/>
            <a:ext cx="274320" cy="274320"/>
          </a:xfrm>
          <a:prstGeom prst="rect">
            <a:avLst/>
          </a:prstGeom>
        </p:spPr>
      </p:pic>
      <p:sp>
        <p:nvSpPr>
          <p:cNvPr id="49" name="text-87"/>
          <p:cNvSpPr txBox="1"/>
          <p:nvPr/>
        </p:nvSpPr>
        <p:spPr>
          <a:xfrm>
            <a:off x="3024378" y="5029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analyzes</a:t>
            </a:r>
            <a:endParaRPr lang="en-US" sz="1500" dirty="0"/>
          </a:p>
        </p:txBody>
      </p:sp>
      <p:sp>
        <p:nvSpPr>
          <p:cNvPr id="50" name="text-88"/>
          <p:cNvSpPr txBox="1"/>
          <p:nvPr/>
        </p:nvSpPr>
        <p:spPr>
          <a:xfrm>
            <a:off x="3024378" y="5376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Picks type, urgency and department</a:t>
            </a:r>
            <a:endParaRPr lang="en-US" sz="1200" dirty="0"/>
          </a:p>
        </p:txBody>
      </p:sp>
      <p:sp>
        <p:nvSpPr>
          <p:cNvPr id="51" name="text-89"/>
          <p:cNvSpPr txBox="1"/>
          <p:nvPr/>
        </p:nvSpPr>
        <p:spPr>
          <a:xfrm>
            <a:off x="4761738" y="4846320"/>
            <a:ext cx="372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52" name="card-90"/>
          <p:cNvSpPr/>
          <p:nvPr/>
        </p:nvSpPr>
        <p:spPr>
          <a:xfrm>
            <a:off x="5134356" y="4206240"/>
            <a:ext cx="1920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3" name="badge-91"/>
          <p:cNvSpPr/>
          <p:nvPr/>
        </p:nvSpPr>
        <p:spPr>
          <a:xfrm>
            <a:off x="5317236" y="4370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4" name="icon-9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396" y="4507992"/>
            <a:ext cx="274320" cy="274320"/>
          </a:xfrm>
          <a:prstGeom prst="rect">
            <a:avLst/>
          </a:prstGeom>
        </p:spPr>
      </p:pic>
      <p:sp>
        <p:nvSpPr>
          <p:cNvPr id="55" name="text-93"/>
          <p:cNvSpPr txBox="1"/>
          <p:nvPr/>
        </p:nvSpPr>
        <p:spPr>
          <a:xfrm>
            <a:off x="5317236" y="5029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Manager assigns</a:t>
            </a:r>
            <a:endParaRPr lang="en-US" sz="1500" dirty="0"/>
          </a:p>
        </p:txBody>
      </p:sp>
      <p:sp>
        <p:nvSpPr>
          <p:cNvPr id="56" name="text-94"/>
          <p:cNvSpPr txBox="1"/>
          <p:nvPr/>
        </p:nvSpPr>
        <p:spPr>
          <a:xfrm>
            <a:off x="5317236" y="5376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Chooses the right technician</a:t>
            </a:r>
            <a:endParaRPr lang="en-US" sz="1200" dirty="0"/>
          </a:p>
        </p:txBody>
      </p:sp>
      <p:sp>
        <p:nvSpPr>
          <p:cNvPr id="57" name="text-95"/>
          <p:cNvSpPr txBox="1"/>
          <p:nvPr/>
        </p:nvSpPr>
        <p:spPr>
          <a:xfrm>
            <a:off x="7054596" y="4846320"/>
            <a:ext cx="372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58" name="card-96"/>
          <p:cNvSpPr/>
          <p:nvPr/>
        </p:nvSpPr>
        <p:spPr>
          <a:xfrm>
            <a:off x="7427214" y="4206240"/>
            <a:ext cx="1920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badge-97"/>
          <p:cNvSpPr/>
          <p:nvPr/>
        </p:nvSpPr>
        <p:spPr>
          <a:xfrm>
            <a:off x="7610094" y="43708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0" name="icon-9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254" y="4507992"/>
            <a:ext cx="274320" cy="274320"/>
          </a:xfrm>
          <a:prstGeom prst="rect">
            <a:avLst/>
          </a:prstGeom>
        </p:spPr>
      </p:pic>
      <p:sp>
        <p:nvSpPr>
          <p:cNvPr id="61" name="text-99"/>
          <p:cNvSpPr txBox="1"/>
          <p:nvPr/>
        </p:nvSpPr>
        <p:spPr>
          <a:xfrm>
            <a:off x="7610094" y="5029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Staff fixes it</a:t>
            </a:r>
            <a:endParaRPr lang="en-US" sz="1500" dirty="0"/>
          </a:p>
        </p:txBody>
      </p:sp>
      <p:sp>
        <p:nvSpPr>
          <p:cNvPr id="62" name="text-100"/>
          <p:cNvSpPr txBox="1"/>
          <p:nvPr/>
        </p:nvSpPr>
        <p:spPr>
          <a:xfrm>
            <a:off x="7610094" y="5376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Updates status and logs the work</a:t>
            </a:r>
            <a:endParaRPr lang="en-US" sz="1200" dirty="0"/>
          </a:p>
        </p:txBody>
      </p:sp>
      <p:sp>
        <p:nvSpPr>
          <p:cNvPr id="63" name="text-101"/>
          <p:cNvSpPr txBox="1"/>
          <p:nvPr/>
        </p:nvSpPr>
        <p:spPr>
          <a:xfrm>
            <a:off x="9347454" y="4846320"/>
            <a:ext cx="372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64" name="card-102"/>
          <p:cNvSpPr/>
          <p:nvPr/>
        </p:nvSpPr>
        <p:spPr>
          <a:xfrm>
            <a:off x="9720072" y="4206240"/>
            <a:ext cx="1920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badge-103"/>
          <p:cNvSpPr/>
          <p:nvPr/>
        </p:nvSpPr>
        <p:spPr>
          <a:xfrm>
            <a:off x="9902952" y="4370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6" name="icon-10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0112" y="4507992"/>
            <a:ext cx="274320" cy="274320"/>
          </a:xfrm>
          <a:prstGeom prst="rect">
            <a:avLst/>
          </a:prstGeom>
        </p:spPr>
      </p:pic>
      <p:sp>
        <p:nvSpPr>
          <p:cNvPr id="67" name="text-105"/>
          <p:cNvSpPr txBox="1"/>
          <p:nvPr/>
        </p:nvSpPr>
        <p:spPr>
          <a:xfrm>
            <a:off x="9902952" y="5029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Student verifies</a:t>
            </a:r>
            <a:endParaRPr lang="en-US" sz="1500" dirty="0"/>
          </a:p>
        </p:txBody>
      </p:sp>
      <p:sp>
        <p:nvSpPr>
          <p:cNvPr id="68" name="text-106"/>
          <p:cNvSpPr txBox="1"/>
          <p:nvPr/>
        </p:nvSpPr>
        <p:spPr>
          <a:xfrm>
            <a:off x="9902952" y="5376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Confirms the fix and rates it</a:t>
            </a:r>
            <a:endParaRPr lang="en-US" sz="120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Project Implementation</a:t>
            </a:r>
            <a:endParaRPr lang="en-US" sz="3800" dirty="0"/>
          </a:p>
        </p:txBody>
      </p:sp>
      <p:sp>
        <p:nvSpPr>
          <p:cNvPr id="3" name="card-107"/>
          <p:cNvSpPr/>
          <p:nvPr/>
        </p:nvSpPr>
        <p:spPr>
          <a:xfrm>
            <a:off x="548640" y="1463040"/>
            <a:ext cx="3511296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adge-108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0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51660"/>
            <a:ext cx="320040" cy="320040"/>
          </a:xfrm>
          <a:prstGeom prst="rect">
            <a:avLst/>
          </a:prstGeom>
        </p:spPr>
      </p:pic>
      <p:sp>
        <p:nvSpPr>
          <p:cNvPr id="6" name="text-110"/>
          <p:cNvSpPr txBox="1"/>
          <p:nvPr/>
        </p:nvSpPr>
        <p:spPr>
          <a:xfrm>
            <a:off x="1600200" y="17190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-111"/>
          <p:cNvSpPr txBox="1"/>
          <p:nvPr/>
        </p:nvSpPr>
        <p:spPr>
          <a:xfrm>
            <a:off x="1600200" y="19933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React + Vite + Tailwind CSS</a:t>
            </a:r>
            <a:endParaRPr lang="en-US" sz="1700" dirty="0"/>
          </a:p>
        </p:txBody>
      </p:sp>
      <p:sp>
        <p:nvSpPr>
          <p:cNvPr id="8" name="text-112"/>
          <p:cNvSpPr txBox="1"/>
          <p:nvPr/>
        </p:nvSpPr>
        <p:spPr>
          <a:xfrm>
            <a:off x="777240" y="256032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screens users see: forms, lists and charts.</a:t>
            </a:r>
            <a:endParaRPr lang="en-US" sz="1400" dirty="0"/>
          </a:p>
        </p:txBody>
      </p:sp>
      <p:sp>
        <p:nvSpPr>
          <p:cNvPr id="9" name="card-113"/>
          <p:cNvSpPr/>
          <p:nvPr/>
        </p:nvSpPr>
        <p:spPr>
          <a:xfrm>
            <a:off x="4338828" y="1463040"/>
            <a:ext cx="3511296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-114"/>
          <p:cNvSpPr/>
          <p:nvPr/>
        </p:nvSpPr>
        <p:spPr>
          <a:xfrm>
            <a:off x="4567428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-1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851660"/>
            <a:ext cx="320040" cy="320040"/>
          </a:xfrm>
          <a:prstGeom prst="rect">
            <a:avLst/>
          </a:prstGeom>
        </p:spPr>
      </p:pic>
      <p:sp>
        <p:nvSpPr>
          <p:cNvPr id="12" name="text-116"/>
          <p:cNvSpPr txBox="1"/>
          <p:nvPr/>
        </p:nvSpPr>
        <p:spPr>
          <a:xfrm>
            <a:off x="5390388" y="17190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BACKEND</a:t>
            </a:r>
            <a:endParaRPr lang="en-US" sz="1200" dirty="0"/>
          </a:p>
        </p:txBody>
      </p:sp>
      <p:sp>
        <p:nvSpPr>
          <p:cNvPr id="13" name="text-117"/>
          <p:cNvSpPr txBox="1"/>
          <p:nvPr/>
        </p:nvSpPr>
        <p:spPr>
          <a:xfrm>
            <a:off x="5390388" y="19933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Node.js + Express</a:t>
            </a:r>
            <a:endParaRPr lang="en-US" sz="1700" dirty="0"/>
          </a:p>
        </p:txBody>
      </p:sp>
      <p:sp>
        <p:nvSpPr>
          <p:cNvPr id="14" name="text-118"/>
          <p:cNvSpPr txBox="1"/>
          <p:nvPr/>
        </p:nvSpPr>
        <p:spPr>
          <a:xfrm>
            <a:off x="4567428" y="256032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brain: checks requests and applies the rules.</a:t>
            </a:r>
            <a:endParaRPr lang="en-US" sz="1400" dirty="0"/>
          </a:p>
        </p:txBody>
      </p:sp>
      <p:sp>
        <p:nvSpPr>
          <p:cNvPr id="15" name="card-119"/>
          <p:cNvSpPr/>
          <p:nvPr/>
        </p:nvSpPr>
        <p:spPr>
          <a:xfrm>
            <a:off x="8129016" y="1463040"/>
            <a:ext cx="3511296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-120"/>
          <p:cNvSpPr/>
          <p:nvPr/>
        </p:nvSpPr>
        <p:spPr>
          <a:xfrm>
            <a:off x="8357616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1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636" y="1851660"/>
            <a:ext cx="320040" cy="320040"/>
          </a:xfrm>
          <a:prstGeom prst="rect">
            <a:avLst/>
          </a:prstGeom>
        </p:spPr>
      </p:pic>
      <p:sp>
        <p:nvSpPr>
          <p:cNvPr id="18" name="text-122"/>
          <p:cNvSpPr txBox="1"/>
          <p:nvPr/>
        </p:nvSpPr>
        <p:spPr>
          <a:xfrm>
            <a:off x="9180576" y="17190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DATABASE</a:t>
            </a:r>
            <a:endParaRPr lang="en-US" sz="1200" dirty="0"/>
          </a:p>
        </p:txBody>
      </p:sp>
      <p:sp>
        <p:nvSpPr>
          <p:cNvPr id="19" name="text-123"/>
          <p:cNvSpPr txBox="1"/>
          <p:nvPr/>
        </p:nvSpPr>
        <p:spPr>
          <a:xfrm>
            <a:off x="9180576" y="19933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MongoDB Atlas</a:t>
            </a:r>
            <a:endParaRPr lang="en-US" sz="1700" dirty="0"/>
          </a:p>
        </p:txBody>
      </p:sp>
      <p:sp>
        <p:nvSpPr>
          <p:cNvPr id="20" name="text-124"/>
          <p:cNvSpPr txBox="1"/>
          <p:nvPr/>
        </p:nvSpPr>
        <p:spPr>
          <a:xfrm>
            <a:off x="8357616" y="256032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Safe cloud storage for users, complaints and history.</a:t>
            </a:r>
            <a:endParaRPr lang="en-US" sz="1400" dirty="0"/>
          </a:p>
        </p:txBody>
      </p:sp>
      <p:sp>
        <p:nvSpPr>
          <p:cNvPr id="21" name="card-125"/>
          <p:cNvSpPr/>
          <p:nvPr/>
        </p:nvSpPr>
        <p:spPr>
          <a:xfrm>
            <a:off x="548640" y="3474720"/>
            <a:ext cx="3511296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badge-126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-1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3863340"/>
            <a:ext cx="320040" cy="320040"/>
          </a:xfrm>
          <a:prstGeom prst="rect">
            <a:avLst/>
          </a:prstGeom>
        </p:spPr>
      </p:pic>
      <p:sp>
        <p:nvSpPr>
          <p:cNvPr id="24" name="text-128"/>
          <p:cNvSpPr txBox="1"/>
          <p:nvPr/>
        </p:nvSpPr>
        <p:spPr>
          <a:xfrm>
            <a:off x="1600200" y="37307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AI SERVICE</a:t>
            </a:r>
            <a:endParaRPr lang="en-US" sz="1200" dirty="0"/>
          </a:p>
        </p:txBody>
      </p:sp>
      <p:sp>
        <p:nvSpPr>
          <p:cNvPr id="25" name="text-129"/>
          <p:cNvSpPr txBox="1"/>
          <p:nvPr/>
        </p:nvSpPr>
        <p:spPr>
          <a:xfrm>
            <a:off x="1600200" y="400507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Groq (Llama 3)</a:t>
            </a:r>
            <a:endParaRPr lang="en-US" sz="1700" dirty="0"/>
          </a:p>
        </p:txBody>
      </p:sp>
      <p:sp>
        <p:nvSpPr>
          <p:cNvPr id="26" name="text-130"/>
          <p:cNvSpPr txBox="1"/>
          <p:nvPr/>
        </p:nvSpPr>
        <p:spPr>
          <a:xfrm>
            <a:off x="777240" y="45720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Reads each complaint and suggests type and urgency.</a:t>
            </a:r>
            <a:endParaRPr lang="en-US" sz="1400" dirty="0"/>
          </a:p>
        </p:txBody>
      </p:sp>
      <p:sp>
        <p:nvSpPr>
          <p:cNvPr id="27" name="card-131"/>
          <p:cNvSpPr/>
          <p:nvPr/>
        </p:nvSpPr>
        <p:spPr>
          <a:xfrm>
            <a:off x="4338828" y="3474720"/>
            <a:ext cx="3511296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badge-132"/>
          <p:cNvSpPr/>
          <p:nvPr/>
        </p:nvSpPr>
        <p:spPr>
          <a:xfrm>
            <a:off x="4567428" y="3703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-13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3863340"/>
            <a:ext cx="320040" cy="320040"/>
          </a:xfrm>
          <a:prstGeom prst="rect">
            <a:avLst/>
          </a:prstGeom>
        </p:spPr>
      </p:pic>
      <p:sp>
        <p:nvSpPr>
          <p:cNvPr id="30" name="text-134"/>
          <p:cNvSpPr txBox="1"/>
          <p:nvPr/>
        </p:nvSpPr>
        <p:spPr>
          <a:xfrm>
            <a:off x="5390388" y="37307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IMAGE STORAGE</a:t>
            </a:r>
            <a:endParaRPr lang="en-US" sz="1200" dirty="0"/>
          </a:p>
        </p:txBody>
      </p:sp>
      <p:sp>
        <p:nvSpPr>
          <p:cNvPr id="31" name="text-135"/>
          <p:cNvSpPr txBox="1"/>
          <p:nvPr/>
        </p:nvSpPr>
        <p:spPr>
          <a:xfrm>
            <a:off x="5390388" y="400507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Cloudinary</a:t>
            </a:r>
            <a:endParaRPr lang="en-US" sz="1700" dirty="0"/>
          </a:p>
        </p:txBody>
      </p:sp>
      <p:sp>
        <p:nvSpPr>
          <p:cNvPr id="32" name="text-136"/>
          <p:cNvSpPr txBox="1"/>
          <p:nvPr/>
        </p:nvSpPr>
        <p:spPr>
          <a:xfrm>
            <a:off x="4567428" y="45720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Keeps complaint photos and serves them quickly.</a:t>
            </a:r>
            <a:endParaRPr lang="en-US" sz="1400" dirty="0"/>
          </a:p>
        </p:txBody>
      </p:sp>
      <p:sp>
        <p:nvSpPr>
          <p:cNvPr id="33" name="card-137"/>
          <p:cNvSpPr/>
          <p:nvPr/>
        </p:nvSpPr>
        <p:spPr>
          <a:xfrm>
            <a:off x="8129016" y="3474720"/>
            <a:ext cx="3511296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badge-138"/>
          <p:cNvSpPr/>
          <p:nvPr/>
        </p:nvSpPr>
        <p:spPr>
          <a:xfrm>
            <a:off x="8357616" y="3703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icon-13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7636" y="3863340"/>
            <a:ext cx="320040" cy="320040"/>
          </a:xfrm>
          <a:prstGeom prst="rect">
            <a:avLst/>
          </a:prstGeom>
        </p:spPr>
      </p:pic>
      <p:sp>
        <p:nvSpPr>
          <p:cNvPr id="36" name="text-140"/>
          <p:cNvSpPr txBox="1"/>
          <p:nvPr/>
        </p:nvSpPr>
        <p:spPr>
          <a:xfrm>
            <a:off x="9180576" y="37307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SECURITY</a:t>
            </a:r>
            <a:endParaRPr lang="en-US" sz="1200" dirty="0"/>
          </a:p>
        </p:txBody>
      </p:sp>
      <p:sp>
        <p:nvSpPr>
          <p:cNvPr id="37" name="text-141"/>
          <p:cNvSpPr txBox="1"/>
          <p:nvPr/>
        </p:nvSpPr>
        <p:spPr>
          <a:xfrm>
            <a:off x="9180576" y="400507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JWT login + bcrypt</a:t>
            </a:r>
            <a:endParaRPr lang="en-US" sz="1700" dirty="0"/>
          </a:p>
        </p:txBody>
      </p:sp>
      <p:sp>
        <p:nvSpPr>
          <p:cNvPr id="38" name="text-142"/>
          <p:cNvSpPr txBox="1"/>
          <p:nvPr/>
        </p:nvSpPr>
        <p:spPr>
          <a:xfrm>
            <a:off x="8357616" y="45720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Secure sign-in, protected passwords, role-based access.</a:t>
            </a:r>
            <a:endParaRPr lang="en-US" sz="1400" dirty="0"/>
          </a:p>
        </p:txBody>
      </p:sp>
      <p:sp>
        <p:nvSpPr>
          <p:cNvPr id="39" name="card-14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-144"/>
          <p:cNvSpPr txBox="1"/>
          <p:nvPr/>
        </p:nvSpPr>
        <p:spPr>
          <a:xfrm>
            <a:off x="822960" y="555040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4"/>
                </a:solidFill>
              </a:rPr>
              <a:t>DEVELOPMENT SETUP   </a:t>
            </a:r>
            <a:r>
              <a:rPr lang="en-US" sz="1400" dirty="0">
                <a:solidFill>
                  <a:schemeClr val="tx1"/>
                </a:solidFill>
              </a:rPr>
              <a:t>Node.js 18+ and npm, running on a local computer (backend on port 5000, frontend on port 5173). Communication uses our own REST API plus the Groq and Cloudinary APIs.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System Architecture</a:t>
            </a:r>
            <a:endParaRPr lang="en-US" sz="3800" dirty="0"/>
          </a:p>
        </p:txBody>
      </p:sp>
      <p:sp>
        <p:nvSpPr>
          <p:cNvPr id="3" name="card-145"/>
          <p:cNvSpPr/>
          <p:nvPr/>
        </p:nvSpPr>
        <p:spPr>
          <a:xfrm>
            <a:off x="548640" y="14630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adge-146"/>
          <p:cNvSpPr/>
          <p:nvPr/>
        </p:nvSpPr>
        <p:spPr>
          <a:xfrm>
            <a:off x="13716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4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737360"/>
            <a:ext cx="274320" cy="274320"/>
          </a:xfrm>
          <a:prstGeom prst="rect">
            <a:avLst/>
          </a:prstGeom>
        </p:spPr>
      </p:pic>
      <p:sp>
        <p:nvSpPr>
          <p:cNvPr id="6" name="text-148"/>
          <p:cNvSpPr txBox="1"/>
          <p:nvPr/>
        </p:nvSpPr>
        <p:spPr>
          <a:xfrm>
            <a:off x="68580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accent1"/>
                </a:solidFill>
              </a:rPr>
              <a:t>USER</a:t>
            </a:r>
            <a:endParaRPr lang="en-US" sz="1500" dirty="0"/>
          </a:p>
        </p:txBody>
      </p:sp>
      <p:sp>
        <p:nvSpPr>
          <p:cNvPr id="7" name="text-149"/>
          <p:cNvSpPr txBox="1"/>
          <p:nvPr/>
        </p:nvSpPr>
        <p:spPr>
          <a:xfrm>
            <a:off x="68580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Student, Staff, Manager or Admin</a:t>
            </a:r>
            <a:endParaRPr lang="en-US" sz="1300" dirty="0"/>
          </a:p>
        </p:txBody>
      </p:sp>
      <p:sp>
        <p:nvSpPr>
          <p:cNvPr id="8" name="arrow-150"/>
          <p:cNvSpPr/>
          <p:nvPr/>
        </p:nvSpPr>
        <p:spPr>
          <a:xfrm>
            <a:off x="2816352" y="2331720"/>
            <a:ext cx="624535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card-151"/>
          <p:cNvSpPr/>
          <p:nvPr/>
        </p:nvSpPr>
        <p:spPr>
          <a:xfrm>
            <a:off x="3514039" y="14630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-152"/>
          <p:cNvSpPr/>
          <p:nvPr/>
        </p:nvSpPr>
        <p:spPr>
          <a:xfrm>
            <a:off x="4336999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-15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159" y="1737360"/>
            <a:ext cx="274320" cy="274320"/>
          </a:xfrm>
          <a:prstGeom prst="rect">
            <a:avLst/>
          </a:prstGeom>
        </p:spPr>
      </p:pic>
      <p:sp>
        <p:nvSpPr>
          <p:cNvPr id="12" name="text-154"/>
          <p:cNvSpPr txBox="1"/>
          <p:nvPr/>
        </p:nvSpPr>
        <p:spPr>
          <a:xfrm>
            <a:off x="3651199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accent2"/>
                </a:solidFill>
              </a:rPr>
              <a:t>FRONTEND</a:t>
            </a:r>
            <a:endParaRPr lang="en-US" sz="1500" dirty="0"/>
          </a:p>
        </p:txBody>
      </p:sp>
      <p:sp>
        <p:nvSpPr>
          <p:cNvPr id="13" name="text-155"/>
          <p:cNvSpPr txBox="1"/>
          <p:nvPr/>
        </p:nvSpPr>
        <p:spPr>
          <a:xfrm>
            <a:off x="3651199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React app with screens and forms</a:t>
            </a:r>
            <a:endParaRPr lang="en-US" sz="1300" dirty="0"/>
          </a:p>
        </p:txBody>
      </p:sp>
      <p:sp>
        <p:nvSpPr>
          <p:cNvPr id="14" name="arrow-156"/>
          <p:cNvSpPr/>
          <p:nvPr/>
        </p:nvSpPr>
        <p:spPr>
          <a:xfrm>
            <a:off x="5781751" y="2331720"/>
            <a:ext cx="624535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card-157"/>
          <p:cNvSpPr/>
          <p:nvPr/>
        </p:nvSpPr>
        <p:spPr>
          <a:xfrm>
            <a:off x="6479438" y="14630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-158"/>
          <p:cNvSpPr/>
          <p:nvPr/>
        </p:nvSpPr>
        <p:spPr>
          <a:xfrm>
            <a:off x="7302398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15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558" y="1737360"/>
            <a:ext cx="274320" cy="274320"/>
          </a:xfrm>
          <a:prstGeom prst="rect">
            <a:avLst/>
          </a:prstGeom>
        </p:spPr>
      </p:pic>
      <p:sp>
        <p:nvSpPr>
          <p:cNvPr id="18" name="text-160"/>
          <p:cNvSpPr txBox="1"/>
          <p:nvPr/>
        </p:nvSpPr>
        <p:spPr>
          <a:xfrm>
            <a:off x="6616598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accent1"/>
                </a:solidFill>
              </a:rPr>
              <a:t>BACKEND</a:t>
            </a:r>
            <a:endParaRPr lang="en-US" sz="1500" dirty="0"/>
          </a:p>
        </p:txBody>
      </p:sp>
      <p:sp>
        <p:nvSpPr>
          <p:cNvPr id="19" name="text-161"/>
          <p:cNvSpPr txBox="1"/>
          <p:nvPr/>
        </p:nvSpPr>
        <p:spPr>
          <a:xfrm>
            <a:off x="6616598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Express API: login, rules, assignment</a:t>
            </a:r>
            <a:endParaRPr lang="en-US" sz="1300" dirty="0"/>
          </a:p>
        </p:txBody>
      </p:sp>
      <p:sp>
        <p:nvSpPr>
          <p:cNvPr id="20" name="arrow-162"/>
          <p:cNvSpPr/>
          <p:nvPr/>
        </p:nvSpPr>
        <p:spPr>
          <a:xfrm>
            <a:off x="8747150" y="2331720"/>
            <a:ext cx="624535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card-163"/>
          <p:cNvSpPr/>
          <p:nvPr/>
        </p:nvSpPr>
        <p:spPr>
          <a:xfrm>
            <a:off x="9444838" y="14630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badge-164"/>
          <p:cNvSpPr/>
          <p:nvPr/>
        </p:nvSpPr>
        <p:spPr>
          <a:xfrm>
            <a:off x="10267798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-16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4958" y="1737360"/>
            <a:ext cx="274320" cy="274320"/>
          </a:xfrm>
          <a:prstGeom prst="rect">
            <a:avLst/>
          </a:prstGeom>
        </p:spPr>
      </p:pic>
      <p:sp>
        <p:nvSpPr>
          <p:cNvPr id="24" name="text-166"/>
          <p:cNvSpPr txBox="1"/>
          <p:nvPr/>
        </p:nvSpPr>
        <p:spPr>
          <a:xfrm>
            <a:off x="9581998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accent2"/>
                </a:solidFill>
              </a:rPr>
              <a:t>DATABASE</a:t>
            </a:r>
            <a:endParaRPr lang="en-US" sz="1500" dirty="0"/>
          </a:p>
        </p:txBody>
      </p:sp>
      <p:sp>
        <p:nvSpPr>
          <p:cNvPr id="25" name="text-167"/>
          <p:cNvSpPr txBox="1"/>
          <p:nvPr/>
        </p:nvSpPr>
        <p:spPr>
          <a:xfrm>
            <a:off x="9581998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MongoDB stores all the data</a:t>
            </a:r>
            <a:endParaRPr lang="en-US" sz="1300" dirty="0"/>
          </a:p>
        </p:txBody>
      </p:sp>
      <p:sp>
        <p:nvSpPr>
          <p:cNvPr id="26" name="arrow-168"/>
          <p:cNvSpPr/>
          <p:nvPr/>
        </p:nvSpPr>
        <p:spPr>
          <a:xfrm>
            <a:off x="6583680" y="3200400"/>
            <a:ext cx="0" cy="64008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27" name="arrow-169"/>
          <p:cNvSpPr/>
          <p:nvPr/>
        </p:nvSpPr>
        <p:spPr>
          <a:xfrm>
            <a:off x="8595360" y="3200400"/>
            <a:ext cx="0" cy="64008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28" name="card-170"/>
          <p:cNvSpPr/>
          <p:nvPr/>
        </p:nvSpPr>
        <p:spPr>
          <a:xfrm>
            <a:off x="5257800" y="384048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badge-171"/>
          <p:cNvSpPr/>
          <p:nvPr/>
        </p:nvSpPr>
        <p:spPr>
          <a:xfrm>
            <a:off x="539496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-17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0690" y="4149090"/>
            <a:ext cx="251460" cy="251460"/>
          </a:xfrm>
          <a:prstGeom prst="rect">
            <a:avLst/>
          </a:prstGeom>
        </p:spPr>
      </p:pic>
      <p:sp>
        <p:nvSpPr>
          <p:cNvPr id="31" name="text-173"/>
          <p:cNvSpPr txBox="1"/>
          <p:nvPr/>
        </p:nvSpPr>
        <p:spPr>
          <a:xfrm>
            <a:off x="6035040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GROQ AI</a:t>
            </a:r>
            <a:endParaRPr lang="en-US" sz="1300" dirty="0"/>
          </a:p>
        </p:txBody>
      </p:sp>
      <p:sp>
        <p:nvSpPr>
          <p:cNvPr id="32" name="text-174"/>
          <p:cNvSpPr txBox="1"/>
          <p:nvPr/>
        </p:nvSpPr>
        <p:spPr>
          <a:xfrm>
            <a:off x="6035040" y="4343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Reads and sorts complaints</a:t>
            </a:r>
            <a:endParaRPr lang="en-US" sz="1200" dirty="0"/>
          </a:p>
        </p:txBody>
      </p:sp>
      <p:sp>
        <p:nvSpPr>
          <p:cNvPr id="33" name="card-175"/>
          <p:cNvSpPr/>
          <p:nvPr/>
        </p:nvSpPr>
        <p:spPr>
          <a:xfrm>
            <a:off x="7726680" y="384048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badge-176"/>
          <p:cNvSpPr/>
          <p:nvPr/>
        </p:nvSpPr>
        <p:spPr>
          <a:xfrm>
            <a:off x="786384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-17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9570" y="4149090"/>
            <a:ext cx="251460" cy="251460"/>
          </a:xfrm>
          <a:prstGeom prst="rect">
            <a:avLst/>
          </a:prstGeom>
        </p:spPr>
      </p:pic>
      <p:sp>
        <p:nvSpPr>
          <p:cNvPr id="36" name="text-178"/>
          <p:cNvSpPr txBox="1"/>
          <p:nvPr/>
        </p:nvSpPr>
        <p:spPr>
          <a:xfrm>
            <a:off x="8503920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CLOUDINARY</a:t>
            </a:r>
            <a:endParaRPr lang="en-US" sz="1300" dirty="0"/>
          </a:p>
        </p:txBody>
      </p:sp>
      <p:sp>
        <p:nvSpPr>
          <p:cNvPr id="37" name="text-179"/>
          <p:cNvSpPr txBox="1"/>
          <p:nvPr/>
        </p:nvSpPr>
        <p:spPr>
          <a:xfrm>
            <a:off x="8503920" y="4343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Stores complaint photos</a:t>
            </a:r>
            <a:endParaRPr lang="en-US" sz="1200" dirty="0"/>
          </a:p>
        </p:txBody>
      </p:sp>
      <p:sp>
        <p:nvSpPr>
          <p:cNvPr id="38" name="card-180"/>
          <p:cNvSpPr/>
          <p:nvPr/>
        </p:nvSpPr>
        <p:spPr>
          <a:xfrm>
            <a:off x="548640" y="3703320"/>
            <a:ext cx="44805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-181"/>
          <p:cNvSpPr txBox="1"/>
          <p:nvPr/>
        </p:nvSpPr>
        <p:spPr>
          <a:xfrm>
            <a:off x="82296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4"/>
                </a:solidFill>
              </a:rPr>
              <a:t>IN SIMPLE WORDS</a:t>
            </a:r>
            <a:endParaRPr lang="en-US" sz="1300" dirty="0"/>
          </a:p>
        </p:txBody>
      </p:sp>
      <p:sp>
        <p:nvSpPr>
          <p:cNvPr id="40" name="text-182"/>
          <p:cNvSpPr txBox="1"/>
          <p:nvPr/>
        </p:nvSpPr>
        <p:spPr>
          <a:xfrm>
            <a:off x="822960" y="41605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1. The user clicks Submit.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2. The frontend sends it to the backend.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3. The backend asks the AI and saves it.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4. The answer comes back to the screen.</a:t>
            </a:r>
            <a:endParaRPr lang="en-US" sz="1400" dirty="0"/>
          </a:p>
        </p:txBody>
      </p:sp>
      <p:sp>
        <p:nvSpPr>
          <p:cNvPr id="41" name="arrow-183"/>
          <p:cNvSpPr/>
          <p:nvPr/>
        </p:nvSpPr>
        <p:spPr>
          <a:xfrm>
            <a:off x="1645920" y="5577840"/>
            <a:ext cx="87782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42" name="text-184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RESPONSE: the result travels back from the database to the user's screen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Screens / Working Demonstration</a:t>
            </a:r>
            <a:endParaRPr lang="en-US" sz="3800" dirty="0"/>
          </a:p>
        </p:txBody>
      </p:sp>
      <p:sp>
        <p:nvSpPr>
          <p:cNvPr id="3" name="screenshot-frame-185"/>
          <p:cNvSpPr/>
          <p:nvPr/>
        </p:nvSpPr>
        <p:spPr>
          <a:xfrm>
            <a:off x="548640" y="1417320"/>
            <a:ext cx="3511296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4" name="icon-18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828800"/>
            <a:ext cx="457200" cy="457200"/>
          </a:xfrm>
          <a:prstGeom prst="rect">
            <a:avLst/>
          </a:prstGeom>
        </p:spPr>
      </p:pic>
      <p:sp>
        <p:nvSpPr>
          <p:cNvPr id="5" name="text-187"/>
          <p:cNvSpPr txBox="1"/>
          <p:nvPr/>
        </p:nvSpPr>
        <p:spPr>
          <a:xfrm>
            <a:off x="548640" y="24231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6" name="text-188"/>
          <p:cNvSpPr txBox="1"/>
          <p:nvPr/>
        </p:nvSpPr>
        <p:spPr>
          <a:xfrm>
            <a:off x="548640" y="32004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 Login Page</a:t>
            </a:r>
            <a:endParaRPr lang="en-US" sz="1600" dirty="0"/>
          </a:p>
        </p:txBody>
      </p:sp>
      <p:sp>
        <p:nvSpPr>
          <p:cNvPr id="7" name="text-189"/>
          <p:cNvSpPr txBox="1"/>
          <p:nvPr/>
        </p:nvSpPr>
        <p:spPr>
          <a:xfrm>
            <a:off x="548640" y="350215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Sign in with a role-based account</a:t>
            </a:r>
            <a:endParaRPr lang="en-US" sz="1300" dirty="0"/>
          </a:p>
        </p:txBody>
      </p:sp>
      <p:sp>
        <p:nvSpPr>
          <p:cNvPr id="8" name="screenshot-frame-190"/>
          <p:cNvSpPr/>
          <p:nvPr/>
        </p:nvSpPr>
        <p:spPr>
          <a:xfrm>
            <a:off x="4338828" y="1417320"/>
            <a:ext cx="3511296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9" name="icon-19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1828800"/>
            <a:ext cx="457200" cy="457200"/>
          </a:xfrm>
          <a:prstGeom prst="rect">
            <a:avLst/>
          </a:prstGeom>
        </p:spPr>
      </p:pic>
      <p:sp>
        <p:nvSpPr>
          <p:cNvPr id="10" name="text-192"/>
          <p:cNvSpPr txBox="1"/>
          <p:nvPr/>
        </p:nvSpPr>
        <p:spPr>
          <a:xfrm>
            <a:off x="4338828" y="24231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11" name="text-193"/>
          <p:cNvSpPr txBox="1"/>
          <p:nvPr/>
        </p:nvSpPr>
        <p:spPr>
          <a:xfrm>
            <a:off x="4338828" y="32004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2.  Home Page</a:t>
            </a:r>
            <a:endParaRPr lang="en-US" sz="1600" dirty="0"/>
          </a:p>
        </p:txBody>
      </p:sp>
      <p:sp>
        <p:nvSpPr>
          <p:cNvPr id="12" name="text-194"/>
          <p:cNvSpPr txBox="1"/>
          <p:nvPr/>
        </p:nvSpPr>
        <p:spPr>
          <a:xfrm>
            <a:off x="4338828" y="350215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Student's complaints at a glance</a:t>
            </a:r>
            <a:endParaRPr lang="en-US" sz="1300" dirty="0"/>
          </a:p>
        </p:txBody>
      </p:sp>
      <p:sp>
        <p:nvSpPr>
          <p:cNvPr id="13" name="screenshot-frame-195"/>
          <p:cNvSpPr/>
          <p:nvPr/>
        </p:nvSpPr>
        <p:spPr>
          <a:xfrm>
            <a:off x="8129016" y="1417320"/>
            <a:ext cx="3511296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14" name="icon-19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1828800"/>
            <a:ext cx="457200" cy="457200"/>
          </a:xfrm>
          <a:prstGeom prst="rect">
            <a:avLst/>
          </a:prstGeom>
        </p:spPr>
      </p:pic>
      <p:sp>
        <p:nvSpPr>
          <p:cNvPr id="15" name="text-197"/>
          <p:cNvSpPr txBox="1"/>
          <p:nvPr/>
        </p:nvSpPr>
        <p:spPr>
          <a:xfrm>
            <a:off x="8129016" y="24231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16" name="text-198"/>
          <p:cNvSpPr txBox="1"/>
          <p:nvPr/>
        </p:nvSpPr>
        <p:spPr>
          <a:xfrm>
            <a:off x="8129016" y="32004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 Complaint Form</a:t>
            </a:r>
            <a:endParaRPr lang="en-US" sz="1600" dirty="0"/>
          </a:p>
        </p:txBody>
      </p:sp>
      <p:sp>
        <p:nvSpPr>
          <p:cNvPr id="17" name="text-199"/>
          <p:cNvSpPr txBox="1"/>
          <p:nvPr/>
        </p:nvSpPr>
        <p:spPr>
          <a:xfrm>
            <a:off x="8129016" y="350215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Describe the issue and add a photo</a:t>
            </a:r>
            <a:endParaRPr lang="en-US" sz="1300" dirty="0"/>
          </a:p>
        </p:txBody>
      </p:sp>
      <p:sp>
        <p:nvSpPr>
          <p:cNvPr id="18" name="screenshot-frame-200"/>
          <p:cNvSpPr/>
          <p:nvPr/>
        </p:nvSpPr>
        <p:spPr>
          <a:xfrm>
            <a:off x="548640" y="3886200"/>
            <a:ext cx="3511296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19" name="icon-20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4297680"/>
            <a:ext cx="457200" cy="457200"/>
          </a:xfrm>
          <a:prstGeom prst="rect">
            <a:avLst/>
          </a:prstGeom>
        </p:spPr>
      </p:pic>
      <p:sp>
        <p:nvSpPr>
          <p:cNvPr id="20" name="text-202"/>
          <p:cNvSpPr txBox="1"/>
          <p:nvPr/>
        </p:nvSpPr>
        <p:spPr>
          <a:xfrm>
            <a:off x="548640" y="489204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21" name="text-203"/>
          <p:cNvSpPr txBox="1"/>
          <p:nvPr/>
        </p:nvSpPr>
        <p:spPr>
          <a:xfrm>
            <a:off x="548640" y="566928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4.  Main Application</a:t>
            </a:r>
            <a:endParaRPr lang="en-US" sz="1600" dirty="0"/>
          </a:p>
        </p:txBody>
      </p:sp>
      <p:sp>
        <p:nvSpPr>
          <p:cNvPr id="22" name="text-204"/>
          <p:cNvSpPr txBox="1"/>
          <p:nvPr/>
        </p:nvSpPr>
        <p:spPr>
          <a:xfrm>
            <a:off x="548640" y="597103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Manager reviews AI result and assigns staff</a:t>
            </a:r>
            <a:endParaRPr lang="en-US" sz="1300" dirty="0"/>
          </a:p>
        </p:txBody>
      </p:sp>
      <p:sp>
        <p:nvSpPr>
          <p:cNvPr id="23" name="screenshot-frame-205"/>
          <p:cNvSpPr/>
          <p:nvPr/>
        </p:nvSpPr>
        <p:spPr>
          <a:xfrm>
            <a:off x="4338828" y="3886200"/>
            <a:ext cx="3511296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24" name="icon-20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4297680"/>
            <a:ext cx="457200" cy="457200"/>
          </a:xfrm>
          <a:prstGeom prst="rect">
            <a:avLst/>
          </a:prstGeom>
        </p:spPr>
      </p:pic>
      <p:sp>
        <p:nvSpPr>
          <p:cNvPr id="25" name="text-207"/>
          <p:cNvSpPr txBox="1"/>
          <p:nvPr/>
        </p:nvSpPr>
        <p:spPr>
          <a:xfrm>
            <a:off x="4338828" y="489204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26" name="text-208"/>
          <p:cNvSpPr txBox="1"/>
          <p:nvPr/>
        </p:nvSpPr>
        <p:spPr>
          <a:xfrm>
            <a:off x="4338828" y="566928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5.  Dashboard</a:t>
            </a:r>
            <a:endParaRPr lang="en-US" sz="1600" dirty="0"/>
          </a:p>
        </p:txBody>
      </p:sp>
      <p:sp>
        <p:nvSpPr>
          <p:cNvPr id="27" name="text-209"/>
          <p:cNvSpPr txBox="1"/>
          <p:nvPr/>
        </p:nvSpPr>
        <p:spPr>
          <a:xfrm>
            <a:off x="4338828" y="597103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KPIs, trends and staff workload</a:t>
            </a:r>
            <a:endParaRPr lang="en-US" sz="1300" dirty="0"/>
          </a:p>
        </p:txBody>
      </p:sp>
      <p:sp>
        <p:nvSpPr>
          <p:cNvPr id="28" name="screenshot-frame-210"/>
          <p:cNvSpPr/>
          <p:nvPr/>
        </p:nvSpPr>
        <p:spPr>
          <a:xfrm>
            <a:off x="8129016" y="3886200"/>
            <a:ext cx="3511296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29" name="icon-2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4297680"/>
            <a:ext cx="457200" cy="457200"/>
          </a:xfrm>
          <a:prstGeom prst="rect">
            <a:avLst/>
          </a:prstGeom>
        </p:spPr>
      </p:pic>
      <p:sp>
        <p:nvSpPr>
          <p:cNvPr id="30" name="text-212"/>
          <p:cNvSpPr txBox="1"/>
          <p:nvPr/>
        </p:nvSpPr>
        <p:spPr>
          <a:xfrm>
            <a:off x="8129016" y="489204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31" name="text-213"/>
          <p:cNvSpPr txBox="1"/>
          <p:nvPr/>
        </p:nvSpPr>
        <p:spPr>
          <a:xfrm>
            <a:off x="8129016" y="566928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6.  Result Page</a:t>
            </a:r>
            <a:endParaRPr lang="en-US" sz="1600" dirty="0"/>
          </a:p>
        </p:txBody>
      </p:sp>
      <p:sp>
        <p:nvSpPr>
          <p:cNvPr id="32" name="text-214"/>
          <p:cNvSpPr txBox="1"/>
          <p:nvPr/>
        </p:nvSpPr>
        <p:spPr>
          <a:xfrm>
            <a:off x="8129016" y="597103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Resolved, verified and rated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EC3871F-C08F-1786-D7D3-680750FE3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54" y="1371600"/>
            <a:ext cx="3627170" cy="176187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DD5B10A-35CE-9F94-9F66-46B903399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28" y="1403604"/>
            <a:ext cx="3511296" cy="171907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60DE2FA-77AC-B254-DB3A-ABE807D53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1289304"/>
            <a:ext cx="3588816" cy="185097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222B84-16A8-2DA8-0492-A33A18FBC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67913"/>
            <a:ext cx="3538304" cy="179222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AF1026-6B8E-9556-BC1F-63111B7413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828" y="3867911"/>
            <a:ext cx="3538304" cy="171604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DB43BAD-C183-D9B5-FACB-6C0A93E976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9016" y="3834243"/>
            <a:ext cx="3588816" cy="1749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Functional Results</a:t>
            </a:r>
            <a:endParaRPr lang="en-US" sz="3800" dirty="0"/>
          </a:p>
        </p:txBody>
      </p:sp>
      <p:sp>
        <p:nvSpPr>
          <p:cNvPr id="3" name="text-215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WHAT EACH PERSON CAN DO IN THE SYSTEM</a:t>
            </a:r>
            <a:endParaRPr lang="en-US" sz="1400" dirty="0"/>
          </a:p>
        </p:txBody>
      </p:sp>
      <p:sp>
        <p:nvSpPr>
          <p:cNvPr id="4" name="card-216"/>
          <p:cNvSpPr/>
          <p:nvPr/>
        </p:nvSpPr>
        <p:spPr>
          <a:xfrm>
            <a:off x="548640" y="1737360"/>
            <a:ext cx="2569464" cy="301752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-217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2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068830"/>
            <a:ext cx="297180" cy="297180"/>
          </a:xfrm>
          <a:prstGeom prst="rect">
            <a:avLst/>
          </a:prstGeom>
        </p:spPr>
      </p:pic>
      <p:sp>
        <p:nvSpPr>
          <p:cNvPr id="7" name="text-219"/>
          <p:cNvSpPr txBox="1"/>
          <p:nvPr/>
        </p:nvSpPr>
        <p:spPr>
          <a:xfrm>
            <a:off x="1554480" y="20116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Student</a:t>
            </a:r>
            <a:endParaRPr lang="en-US" sz="2000" dirty="0"/>
          </a:p>
        </p:txBody>
      </p:sp>
      <p:sp>
        <p:nvSpPr>
          <p:cNvPr id="8" name="text-220"/>
          <p:cNvSpPr txBox="1"/>
          <p:nvPr/>
        </p:nvSpPr>
        <p:spPr>
          <a:xfrm>
            <a:off x="822960" y="2788920"/>
            <a:ext cx="20208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 with a photo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live 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Verify the fix and rate it</a:t>
            </a:r>
            <a:endParaRPr lang="en-US" sz="1600" dirty="0"/>
          </a:p>
        </p:txBody>
      </p:sp>
      <p:sp>
        <p:nvSpPr>
          <p:cNvPr id="9" name="card-221"/>
          <p:cNvSpPr/>
          <p:nvPr/>
        </p:nvSpPr>
        <p:spPr>
          <a:xfrm>
            <a:off x="3392424" y="1737360"/>
            <a:ext cx="2569464" cy="301752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-222"/>
          <p:cNvSpPr/>
          <p:nvPr/>
        </p:nvSpPr>
        <p:spPr>
          <a:xfrm>
            <a:off x="3666744" y="1920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-2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334" y="2068830"/>
            <a:ext cx="297180" cy="297180"/>
          </a:xfrm>
          <a:prstGeom prst="rect">
            <a:avLst/>
          </a:prstGeom>
        </p:spPr>
      </p:pic>
      <p:sp>
        <p:nvSpPr>
          <p:cNvPr id="12" name="text-224"/>
          <p:cNvSpPr txBox="1"/>
          <p:nvPr/>
        </p:nvSpPr>
        <p:spPr>
          <a:xfrm>
            <a:off x="4398264" y="20116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Staff</a:t>
            </a:r>
            <a:endParaRPr lang="en-US" sz="2000" dirty="0"/>
          </a:p>
        </p:txBody>
      </p:sp>
      <p:sp>
        <p:nvSpPr>
          <p:cNvPr id="13" name="text-225"/>
          <p:cNvSpPr txBox="1"/>
          <p:nvPr/>
        </p:nvSpPr>
        <p:spPr>
          <a:xfrm>
            <a:off x="3666744" y="2788920"/>
            <a:ext cx="20208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See assigned tasks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Update work progress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 parts and time used</a:t>
            </a:r>
            <a:endParaRPr lang="en-US" sz="1600" dirty="0"/>
          </a:p>
        </p:txBody>
      </p:sp>
      <p:sp>
        <p:nvSpPr>
          <p:cNvPr id="14" name="card-226"/>
          <p:cNvSpPr/>
          <p:nvPr/>
        </p:nvSpPr>
        <p:spPr>
          <a:xfrm>
            <a:off x="6236208" y="1737360"/>
            <a:ext cx="2569464" cy="301752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badge-227"/>
          <p:cNvSpPr/>
          <p:nvPr/>
        </p:nvSpPr>
        <p:spPr>
          <a:xfrm>
            <a:off x="6510528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2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118" y="2068830"/>
            <a:ext cx="297180" cy="297180"/>
          </a:xfrm>
          <a:prstGeom prst="rect">
            <a:avLst/>
          </a:prstGeom>
        </p:spPr>
      </p:pic>
      <p:sp>
        <p:nvSpPr>
          <p:cNvPr id="17" name="text-229"/>
          <p:cNvSpPr txBox="1"/>
          <p:nvPr/>
        </p:nvSpPr>
        <p:spPr>
          <a:xfrm>
            <a:off x="7242048" y="20116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Manager</a:t>
            </a:r>
            <a:endParaRPr lang="en-US" sz="2000" dirty="0"/>
          </a:p>
        </p:txBody>
      </p:sp>
      <p:sp>
        <p:nvSpPr>
          <p:cNvPr id="18" name="text-230"/>
          <p:cNvSpPr txBox="1"/>
          <p:nvPr/>
        </p:nvSpPr>
        <p:spPr>
          <a:xfrm>
            <a:off x="6510528" y="2788920"/>
            <a:ext cx="20208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the AI result and override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Assign work to staff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 department stats</a:t>
            </a:r>
            <a:endParaRPr lang="en-US" sz="1600" dirty="0"/>
          </a:p>
        </p:txBody>
      </p:sp>
      <p:sp>
        <p:nvSpPr>
          <p:cNvPr id="19" name="card-231"/>
          <p:cNvSpPr/>
          <p:nvPr/>
        </p:nvSpPr>
        <p:spPr>
          <a:xfrm>
            <a:off x="9079992" y="1737360"/>
            <a:ext cx="2569464" cy="301752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badge-232"/>
          <p:cNvSpPr/>
          <p:nvPr/>
        </p:nvSpPr>
        <p:spPr>
          <a:xfrm>
            <a:off x="9354312" y="1920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-23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902" y="2068830"/>
            <a:ext cx="297180" cy="297180"/>
          </a:xfrm>
          <a:prstGeom prst="rect">
            <a:avLst/>
          </a:prstGeom>
        </p:spPr>
      </p:pic>
      <p:sp>
        <p:nvSpPr>
          <p:cNvPr id="22" name="text-234"/>
          <p:cNvSpPr txBox="1"/>
          <p:nvPr/>
        </p:nvSpPr>
        <p:spPr>
          <a:xfrm>
            <a:off x="10085832" y="20116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Admin</a:t>
            </a:r>
            <a:endParaRPr lang="en-US" sz="2000" dirty="0"/>
          </a:p>
        </p:txBody>
      </p:sp>
      <p:sp>
        <p:nvSpPr>
          <p:cNvPr id="23" name="text-235"/>
          <p:cNvSpPr txBox="1"/>
          <p:nvPr/>
        </p:nvSpPr>
        <p:spPr>
          <a:xfrm>
            <a:off x="9354312" y="2788920"/>
            <a:ext cx="20208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 users and departments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See campus-wide analytics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 audit logs</a:t>
            </a:r>
            <a:endParaRPr lang="en-US" sz="1600" dirty="0"/>
          </a:p>
        </p:txBody>
      </p:sp>
      <p:sp>
        <p:nvSpPr>
          <p:cNvPr id="24" name="text-236"/>
          <p:cNvSpPr txBox="1"/>
          <p:nvPr/>
        </p:nvSpPr>
        <p:spPr>
          <a:xfrm>
            <a:off x="54864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SMART FEATURES FOR EVERYONE</a:t>
            </a:r>
            <a:endParaRPr lang="en-US" sz="1400" dirty="0"/>
          </a:p>
        </p:txBody>
      </p:sp>
      <p:sp>
        <p:nvSpPr>
          <p:cNvPr id="25" name="card-237"/>
          <p:cNvSpPr/>
          <p:nvPr/>
        </p:nvSpPr>
        <p:spPr>
          <a:xfrm>
            <a:off x="548640" y="5303520"/>
            <a:ext cx="256946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-238"/>
          <p:cNvSpPr txBox="1"/>
          <p:nvPr/>
        </p:nvSpPr>
        <p:spPr>
          <a:xfrm>
            <a:off x="777240" y="53949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auto-sorting</a:t>
            </a:r>
            <a:endParaRPr lang="en-US" sz="1500" dirty="0"/>
          </a:p>
        </p:txBody>
      </p:sp>
      <p:sp>
        <p:nvSpPr>
          <p:cNvPr id="27" name="text-239"/>
          <p:cNvSpPr txBox="1"/>
          <p:nvPr/>
        </p:nvSpPr>
        <p:spPr>
          <a:xfrm>
            <a:off x="777240" y="5715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With backup rules if AI is down</a:t>
            </a:r>
            <a:endParaRPr lang="en-US" sz="1200" dirty="0"/>
          </a:p>
        </p:txBody>
      </p:sp>
      <p:sp>
        <p:nvSpPr>
          <p:cNvPr id="28" name="card-240"/>
          <p:cNvSpPr/>
          <p:nvPr/>
        </p:nvSpPr>
        <p:spPr>
          <a:xfrm>
            <a:off x="3392424" y="5303520"/>
            <a:ext cx="256946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-241"/>
          <p:cNvSpPr txBox="1"/>
          <p:nvPr/>
        </p:nvSpPr>
        <p:spPr>
          <a:xfrm>
            <a:off x="3621024" y="53949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Deadline alerts</a:t>
            </a:r>
            <a:endParaRPr lang="en-US" sz="1500" dirty="0"/>
          </a:p>
        </p:txBody>
      </p:sp>
      <p:sp>
        <p:nvSpPr>
          <p:cNvPr id="30" name="text-242"/>
          <p:cNvSpPr txBox="1"/>
          <p:nvPr/>
        </p:nvSpPr>
        <p:spPr>
          <a:xfrm>
            <a:off x="3621024" y="5715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Late tasks are flagged</a:t>
            </a:r>
            <a:endParaRPr lang="en-US" sz="1200" dirty="0"/>
          </a:p>
        </p:txBody>
      </p:sp>
      <p:sp>
        <p:nvSpPr>
          <p:cNvPr id="31" name="card-243"/>
          <p:cNvSpPr/>
          <p:nvPr/>
        </p:nvSpPr>
        <p:spPr>
          <a:xfrm>
            <a:off x="6236208" y="5303520"/>
            <a:ext cx="256946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-244"/>
          <p:cNvSpPr txBox="1"/>
          <p:nvPr/>
        </p:nvSpPr>
        <p:spPr>
          <a:xfrm>
            <a:off x="6464808" y="53949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Photo proof</a:t>
            </a:r>
            <a:endParaRPr lang="en-US" sz="1500" dirty="0"/>
          </a:p>
        </p:txBody>
      </p:sp>
      <p:sp>
        <p:nvSpPr>
          <p:cNvPr id="33" name="text-245"/>
          <p:cNvSpPr txBox="1"/>
          <p:nvPr/>
        </p:nvSpPr>
        <p:spPr>
          <a:xfrm>
            <a:off x="6464808" y="5715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Before and after images</a:t>
            </a:r>
            <a:endParaRPr lang="en-US" sz="1200" dirty="0"/>
          </a:p>
        </p:txBody>
      </p:sp>
      <p:sp>
        <p:nvSpPr>
          <p:cNvPr id="34" name="card-246"/>
          <p:cNvSpPr/>
          <p:nvPr/>
        </p:nvSpPr>
        <p:spPr>
          <a:xfrm>
            <a:off x="9079992" y="5303520"/>
            <a:ext cx="256946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-247"/>
          <p:cNvSpPr txBox="1"/>
          <p:nvPr/>
        </p:nvSpPr>
        <p:spPr>
          <a:xfrm>
            <a:off x="9308592" y="53949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&amp; alerts</a:t>
            </a:r>
            <a:endParaRPr lang="en-US" sz="1500" dirty="0"/>
          </a:p>
        </p:txBody>
      </p:sp>
      <p:sp>
        <p:nvSpPr>
          <p:cNvPr id="36" name="text-248"/>
          <p:cNvSpPr txBox="1"/>
          <p:nvPr/>
        </p:nvSpPr>
        <p:spPr>
          <a:xfrm>
            <a:off x="9308592" y="5715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Find complaints, get notified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Testing Results</a:t>
            </a:r>
            <a:endParaRPr lang="en-US" sz="3800" dirty="0"/>
          </a:p>
        </p:txBody>
      </p:sp>
      <p:graphicFrame>
        <p:nvGraphicFramePr>
          <p:cNvPr id="9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44398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C12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FF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C12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FF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C12"/>
                          </a:solidFill>
                        </a:rPr>
                        <a:t>Actual Result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FF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C12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F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Login (all 4 roles)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Correct dashboard opens for each role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Submit complaint + photo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Saved; AI sets type and priority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Wrong-role access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Student cannot open admin pages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Assign complaint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Staff gets the task; status ASSIGNED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Update progress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Status moves to IN_PROGRESS, RESOLVED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Verify and feedback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Status VERIFIED; rating saved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Analytics dashboard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Charts update with new data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</a:rPr>
                        <a:t>AI backup rules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Keywords classify if AI is down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 Expected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Performance Analysis</a:t>
            </a:r>
            <a:endParaRPr lang="en-US" sz="3800" dirty="0"/>
          </a:p>
        </p:txBody>
      </p:sp>
      <p:sp>
        <p:nvSpPr>
          <p:cNvPr id="3" name="card-249"/>
          <p:cNvSpPr/>
          <p:nvPr/>
        </p:nvSpPr>
        <p:spPr>
          <a:xfrm>
            <a:off x="548640" y="146304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-250"/>
          <p:cNvSpPr txBox="1"/>
          <p:nvPr/>
        </p:nvSpPr>
        <p:spPr>
          <a:xfrm>
            <a:off x="822960" y="169164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tx2"/>
                </a:solidFill>
              </a:rPr>
              <a:t>RESPONSE TIME</a:t>
            </a:r>
            <a:endParaRPr lang="en-US" sz="1300" dirty="0"/>
          </a:p>
        </p:txBody>
      </p:sp>
      <p:sp>
        <p:nvSpPr>
          <p:cNvPr id="5" name="text-251"/>
          <p:cNvSpPr txBox="1"/>
          <p:nvPr/>
        </p:nvSpPr>
        <p:spPr>
          <a:xfrm>
            <a:off x="822960" y="205740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45 ms</a:t>
            </a:r>
          </a:p>
        </p:txBody>
      </p:sp>
      <p:sp>
        <p:nvSpPr>
          <p:cNvPr id="6" name="text-252"/>
          <p:cNvSpPr txBox="1"/>
          <p:nvPr/>
        </p:nvSpPr>
        <p:spPr>
          <a:xfrm>
            <a:off x="822960" y="297180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Page load time, seen in the browser Network tab (F12)</a:t>
            </a:r>
            <a:endParaRPr lang="en-US" sz="1400" dirty="0"/>
          </a:p>
        </p:txBody>
      </p:sp>
      <p:sp>
        <p:nvSpPr>
          <p:cNvPr id="7" name="card-253"/>
          <p:cNvSpPr/>
          <p:nvPr/>
        </p:nvSpPr>
        <p:spPr>
          <a:xfrm>
            <a:off x="4338828" y="146304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-254"/>
          <p:cNvSpPr txBox="1"/>
          <p:nvPr/>
        </p:nvSpPr>
        <p:spPr>
          <a:xfrm>
            <a:off x="4613148" y="169164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tx2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9" name="text-255"/>
          <p:cNvSpPr txBox="1"/>
          <p:nvPr/>
        </p:nvSpPr>
        <p:spPr>
          <a:xfrm>
            <a:off x="4613148" y="205740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8</a:t>
            </a:r>
            <a:endParaRPr lang="en-US" sz="4800" dirty="0"/>
          </a:p>
        </p:txBody>
      </p:sp>
      <p:sp>
        <p:nvSpPr>
          <p:cNvPr id="10" name="text-256"/>
          <p:cNvSpPr txBox="1"/>
          <p:nvPr/>
        </p:nvSpPr>
        <p:spPr>
          <a:xfrm>
            <a:off x="4613148" y="297180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Total scenarios tested (previous slide)</a:t>
            </a:r>
            <a:endParaRPr lang="en-US" sz="1400" dirty="0"/>
          </a:p>
        </p:txBody>
      </p:sp>
      <p:sp>
        <p:nvSpPr>
          <p:cNvPr id="11" name="card-257"/>
          <p:cNvSpPr/>
          <p:nvPr/>
        </p:nvSpPr>
        <p:spPr>
          <a:xfrm>
            <a:off x="8129016" y="146304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-258"/>
          <p:cNvSpPr txBox="1"/>
          <p:nvPr/>
        </p:nvSpPr>
        <p:spPr>
          <a:xfrm>
            <a:off x="8403336" y="169164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tx2"/>
                </a:solidFill>
              </a:rPr>
              <a:t>SUCCESSFUL TESTS</a:t>
            </a:r>
            <a:endParaRPr lang="en-US" sz="1300" dirty="0"/>
          </a:p>
        </p:txBody>
      </p:sp>
      <p:sp>
        <p:nvSpPr>
          <p:cNvPr id="13" name="text-259"/>
          <p:cNvSpPr txBox="1"/>
          <p:nvPr/>
        </p:nvSpPr>
        <p:spPr>
          <a:xfrm>
            <a:off x="8403336" y="205740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 / 8</a:t>
            </a:r>
          </a:p>
        </p:txBody>
      </p:sp>
      <p:sp>
        <p:nvSpPr>
          <p:cNvPr id="14" name="text-260"/>
          <p:cNvSpPr txBox="1"/>
          <p:nvPr/>
        </p:nvSpPr>
        <p:spPr>
          <a:xfrm>
            <a:off x="8403336" y="297180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Number of tests marked Pass</a:t>
            </a:r>
            <a:endParaRPr lang="en-US" sz="1400" dirty="0"/>
          </a:p>
        </p:txBody>
      </p:sp>
      <p:sp>
        <p:nvSpPr>
          <p:cNvPr id="15" name="card-261"/>
          <p:cNvSpPr/>
          <p:nvPr/>
        </p:nvSpPr>
        <p:spPr>
          <a:xfrm>
            <a:off x="548640" y="388620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-262"/>
          <p:cNvSpPr txBox="1"/>
          <p:nvPr/>
        </p:nvSpPr>
        <p:spPr>
          <a:xfrm>
            <a:off x="822960" y="41148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tx2"/>
                </a:solidFill>
              </a:rPr>
              <a:t>ERROR RATE</a:t>
            </a:r>
            <a:endParaRPr lang="en-US" sz="1300" dirty="0"/>
          </a:p>
        </p:txBody>
      </p:sp>
      <p:sp>
        <p:nvSpPr>
          <p:cNvPr id="17" name="text-263"/>
          <p:cNvSpPr txBox="1"/>
          <p:nvPr/>
        </p:nvSpPr>
        <p:spPr>
          <a:xfrm>
            <a:off x="822960" y="448056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0 %</a:t>
            </a:r>
          </a:p>
        </p:txBody>
      </p:sp>
      <p:sp>
        <p:nvSpPr>
          <p:cNvPr id="18" name="text-264"/>
          <p:cNvSpPr txBox="1"/>
          <p:nvPr/>
        </p:nvSpPr>
        <p:spPr>
          <a:xfrm>
            <a:off x="822960" y="539496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Failed tests ÷ total tests × 100</a:t>
            </a:r>
            <a:endParaRPr lang="en-US" sz="1400" dirty="0"/>
          </a:p>
        </p:txBody>
      </p:sp>
      <p:sp>
        <p:nvSpPr>
          <p:cNvPr id="19" name="card-265"/>
          <p:cNvSpPr/>
          <p:nvPr/>
        </p:nvSpPr>
        <p:spPr>
          <a:xfrm>
            <a:off x="4338828" y="388620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-266"/>
          <p:cNvSpPr txBox="1"/>
          <p:nvPr/>
        </p:nvSpPr>
        <p:spPr>
          <a:xfrm>
            <a:off x="4613148" y="41148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tx2"/>
                </a:solidFill>
              </a:rPr>
              <a:t>DATABASE RESPONSE</a:t>
            </a:r>
            <a:endParaRPr lang="en-US" sz="1300" dirty="0"/>
          </a:p>
        </p:txBody>
      </p:sp>
      <p:sp>
        <p:nvSpPr>
          <p:cNvPr id="21" name="text-267"/>
          <p:cNvSpPr txBox="1"/>
          <p:nvPr/>
        </p:nvSpPr>
        <p:spPr>
          <a:xfrm>
            <a:off x="4613148" y="448056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 ms</a:t>
            </a:r>
          </a:p>
        </p:txBody>
      </p:sp>
      <p:sp>
        <p:nvSpPr>
          <p:cNvPr id="22" name="text-268"/>
          <p:cNvSpPr txBox="1"/>
          <p:nvPr/>
        </p:nvSpPr>
        <p:spPr>
          <a:xfrm>
            <a:off x="4613148" y="539496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Time for a typical save or search in MongoDB</a:t>
            </a:r>
            <a:endParaRPr lang="en-US" sz="1400" dirty="0"/>
          </a:p>
        </p:txBody>
      </p:sp>
      <p:sp>
        <p:nvSpPr>
          <p:cNvPr id="23" name="card-269"/>
          <p:cNvSpPr/>
          <p:nvPr/>
        </p:nvSpPr>
        <p:spPr>
          <a:xfrm>
            <a:off x="8129016" y="388620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-270"/>
          <p:cNvSpPr txBox="1"/>
          <p:nvPr/>
        </p:nvSpPr>
        <p:spPr>
          <a:xfrm>
            <a:off x="8403336" y="41148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tx2"/>
                </a:solidFill>
              </a:rPr>
              <a:t>API RESPONSE</a:t>
            </a:r>
            <a:endParaRPr lang="en-US" sz="1300" dirty="0"/>
          </a:p>
        </p:txBody>
      </p:sp>
      <p:sp>
        <p:nvSpPr>
          <p:cNvPr id="25" name="text-271"/>
          <p:cNvSpPr txBox="1"/>
          <p:nvPr/>
        </p:nvSpPr>
        <p:spPr>
          <a:xfrm>
            <a:off x="8403336" y="448056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28 ms</a:t>
            </a:r>
          </a:p>
        </p:txBody>
      </p:sp>
      <p:sp>
        <p:nvSpPr>
          <p:cNvPr id="26" name="text-272"/>
          <p:cNvSpPr txBox="1"/>
          <p:nvPr/>
        </p:nvSpPr>
        <p:spPr>
          <a:xfrm>
            <a:off x="8403336" y="539496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Time for an API call, measured with Postman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Results &amp; Analysis</a:t>
            </a:r>
            <a:endParaRPr lang="en-US" sz="3800" dirty="0"/>
          </a:p>
        </p:txBody>
      </p:sp>
      <p:sp>
        <p:nvSpPr>
          <p:cNvPr id="3" name="card-273"/>
          <p:cNvSpPr/>
          <p:nvPr/>
        </p:nvSpPr>
        <p:spPr>
          <a:xfrm>
            <a:off x="548640" y="1417320"/>
            <a:ext cx="16962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-274"/>
          <p:cNvSpPr txBox="1"/>
          <p:nvPr/>
        </p:nvSpPr>
        <p:spPr>
          <a:xfrm>
            <a:off x="548640" y="1554480"/>
            <a:ext cx="16962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1"/>
                </a:solidFill>
              </a:rPr>
              <a:t>4</a:t>
            </a:r>
            <a:endParaRPr lang="en-US" sz="4600" dirty="0"/>
          </a:p>
        </p:txBody>
      </p:sp>
      <p:sp>
        <p:nvSpPr>
          <p:cNvPr id="5" name="text-275"/>
          <p:cNvSpPr txBox="1"/>
          <p:nvPr/>
        </p:nvSpPr>
        <p:spPr>
          <a:xfrm>
            <a:off x="640080" y="2359152"/>
            <a:ext cx="1513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User roles</a:t>
            </a:r>
            <a:endParaRPr lang="en-US" sz="1300" dirty="0"/>
          </a:p>
        </p:txBody>
      </p:sp>
      <p:sp>
        <p:nvSpPr>
          <p:cNvPr id="6" name="card-276"/>
          <p:cNvSpPr/>
          <p:nvPr/>
        </p:nvSpPr>
        <p:spPr>
          <a:xfrm>
            <a:off x="2427732" y="1417320"/>
            <a:ext cx="16962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-277"/>
          <p:cNvSpPr txBox="1"/>
          <p:nvPr/>
        </p:nvSpPr>
        <p:spPr>
          <a:xfrm>
            <a:off x="2427732" y="1554480"/>
            <a:ext cx="16962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2"/>
                </a:solidFill>
              </a:rPr>
              <a:t>11</a:t>
            </a:r>
            <a:endParaRPr lang="en-US" sz="4600" dirty="0"/>
          </a:p>
        </p:txBody>
      </p:sp>
      <p:sp>
        <p:nvSpPr>
          <p:cNvPr id="8" name="text-278"/>
          <p:cNvSpPr txBox="1"/>
          <p:nvPr/>
        </p:nvSpPr>
        <p:spPr>
          <a:xfrm>
            <a:off x="2519172" y="2359152"/>
            <a:ext cx="1513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Data models</a:t>
            </a:r>
            <a:endParaRPr lang="en-US" sz="1300" dirty="0"/>
          </a:p>
        </p:txBody>
      </p:sp>
      <p:sp>
        <p:nvSpPr>
          <p:cNvPr id="9" name="card-279"/>
          <p:cNvSpPr/>
          <p:nvPr/>
        </p:nvSpPr>
        <p:spPr>
          <a:xfrm>
            <a:off x="4306824" y="1417320"/>
            <a:ext cx="16962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-280"/>
          <p:cNvSpPr txBox="1"/>
          <p:nvPr/>
        </p:nvSpPr>
        <p:spPr>
          <a:xfrm>
            <a:off x="4306824" y="1554480"/>
            <a:ext cx="16962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1"/>
                </a:solidFill>
              </a:rPr>
              <a:t>15</a:t>
            </a:r>
            <a:endParaRPr lang="en-US" sz="4600" dirty="0"/>
          </a:p>
        </p:txBody>
      </p:sp>
      <p:sp>
        <p:nvSpPr>
          <p:cNvPr id="11" name="text-281"/>
          <p:cNvSpPr txBox="1"/>
          <p:nvPr/>
        </p:nvSpPr>
        <p:spPr>
          <a:xfrm>
            <a:off x="4398264" y="2359152"/>
            <a:ext cx="1513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Key API endpoints</a:t>
            </a:r>
            <a:endParaRPr lang="en-US" sz="1300" dirty="0"/>
          </a:p>
        </p:txBody>
      </p:sp>
      <p:sp>
        <p:nvSpPr>
          <p:cNvPr id="12" name="card-282"/>
          <p:cNvSpPr/>
          <p:nvPr/>
        </p:nvSpPr>
        <p:spPr>
          <a:xfrm>
            <a:off x="6185916" y="1417320"/>
            <a:ext cx="16962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283"/>
          <p:cNvSpPr txBox="1"/>
          <p:nvPr/>
        </p:nvSpPr>
        <p:spPr>
          <a:xfrm>
            <a:off x="6185916" y="1554480"/>
            <a:ext cx="16962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2"/>
                </a:solidFill>
              </a:rPr>
              <a:t>7</a:t>
            </a:r>
            <a:endParaRPr lang="en-US" sz="4600" dirty="0"/>
          </a:p>
        </p:txBody>
      </p:sp>
      <p:sp>
        <p:nvSpPr>
          <p:cNvPr id="14" name="text-284"/>
          <p:cNvSpPr txBox="1"/>
          <p:nvPr/>
        </p:nvSpPr>
        <p:spPr>
          <a:xfrm>
            <a:off x="6277356" y="2359152"/>
            <a:ext cx="1513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Analytics queries</a:t>
            </a:r>
            <a:endParaRPr lang="en-US" sz="1300" dirty="0"/>
          </a:p>
        </p:txBody>
      </p:sp>
      <p:sp>
        <p:nvSpPr>
          <p:cNvPr id="15" name="card-285"/>
          <p:cNvSpPr/>
          <p:nvPr/>
        </p:nvSpPr>
        <p:spPr>
          <a:xfrm>
            <a:off x="8065008" y="1417320"/>
            <a:ext cx="16962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-286"/>
          <p:cNvSpPr txBox="1"/>
          <p:nvPr/>
        </p:nvSpPr>
        <p:spPr>
          <a:xfrm>
            <a:off x="8065008" y="1554480"/>
            <a:ext cx="16962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1"/>
                </a:solidFill>
              </a:rPr>
              <a:t>6</a:t>
            </a:r>
            <a:endParaRPr lang="en-US" sz="4600" dirty="0"/>
          </a:p>
        </p:txBody>
      </p:sp>
      <p:sp>
        <p:nvSpPr>
          <p:cNvPr id="17" name="text-287"/>
          <p:cNvSpPr txBox="1"/>
          <p:nvPr/>
        </p:nvSpPr>
        <p:spPr>
          <a:xfrm>
            <a:off x="8156448" y="2359152"/>
            <a:ext cx="1513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Complaint stages</a:t>
            </a:r>
            <a:endParaRPr lang="en-US" sz="1300" dirty="0"/>
          </a:p>
        </p:txBody>
      </p:sp>
      <p:sp>
        <p:nvSpPr>
          <p:cNvPr id="18" name="card-288"/>
          <p:cNvSpPr/>
          <p:nvPr/>
        </p:nvSpPr>
        <p:spPr>
          <a:xfrm>
            <a:off x="9944100" y="1417320"/>
            <a:ext cx="16962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-289"/>
          <p:cNvSpPr txBox="1"/>
          <p:nvPr/>
        </p:nvSpPr>
        <p:spPr>
          <a:xfrm>
            <a:off x="9944100" y="1554480"/>
            <a:ext cx="16962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2"/>
                </a:solidFill>
              </a:rPr>
              <a:t>13</a:t>
            </a:r>
            <a:endParaRPr lang="en-US" sz="4600" dirty="0"/>
          </a:p>
        </p:txBody>
      </p:sp>
      <p:sp>
        <p:nvSpPr>
          <p:cNvPr id="20" name="text-290"/>
          <p:cNvSpPr txBox="1"/>
          <p:nvPr/>
        </p:nvSpPr>
        <p:spPr>
          <a:xfrm>
            <a:off x="10035540" y="2359152"/>
            <a:ext cx="1513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Issue categories</a:t>
            </a:r>
            <a:endParaRPr lang="en-US" sz="1300" dirty="0"/>
          </a:p>
        </p:txBody>
      </p:sp>
      <p:sp>
        <p:nvSpPr>
          <p:cNvPr id="21" name="card-291"/>
          <p:cNvSpPr/>
          <p:nvPr/>
        </p:nvSpPr>
        <p:spPr>
          <a:xfrm>
            <a:off x="548640" y="3063240"/>
            <a:ext cx="540867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-292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BEFORE</a:t>
            </a:r>
            <a:endParaRPr lang="en-US" sz="1400" dirty="0"/>
          </a:p>
        </p:txBody>
      </p:sp>
      <p:sp>
        <p:nvSpPr>
          <p:cNvPr id="23" name="text-293"/>
          <p:cNvSpPr txBox="1"/>
          <p:nvPr/>
        </p:nvSpPr>
        <p:spPr>
          <a:xfrm>
            <a:off x="822960" y="35661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 forms and phone calls, easy to lose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way to see the status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issue treated the same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data to learn from</a:t>
            </a:r>
            <a:endParaRPr lang="en-US" sz="1500" dirty="0"/>
          </a:p>
        </p:txBody>
      </p:sp>
      <p:sp>
        <p:nvSpPr>
          <p:cNvPr id="24" name="card-294"/>
          <p:cNvSpPr/>
          <p:nvPr/>
        </p:nvSpPr>
        <p:spPr>
          <a:xfrm>
            <a:off x="6231636" y="3063240"/>
            <a:ext cx="540867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-295"/>
          <p:cNvSpPr txBox="1"/>
          <p:nvPr/>
        </p:nvSpPr>
        <p:spPr>
          <a:xfrm>
            <a:off x="6505956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AFTER AIMS-CAMPUS</a:t>
            </a:r>
            <a:endParaRPr lang="en-US" sz="1400" dirty="0"/>
          </a:p>
        </p:txBody>
      </p:sp>
      <p:sp>
        <p:nvSpPr>
          <p:cNvPr id="26" name="text-296"/>
          <p:cNvSpPr txBox="1"/>
          <p:nvPr/>
        </p:nvSpPr>
        <p:spPr>
          <a:xfrm>
            <a:off x="6505956" y="35661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digital system for everyone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tracking, Pending to Verified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sets urgency and picks the team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Dashboards show trends and delays</a:t>
            </a:r>
            <a:endParaRPr lang="en-US" sz="1500" dirty="0"/>
          </a:p>
        </p:txBody>
      </p:sp>
      <p:sp>
        <p:nvSpPr>
          <p:cNvPr id="27" name="card-297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-298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4"/>
                </a:solidFill>
              </a:rPr>
              <a:t>ANALYSIS   </a:t>
            </a:r>
            <a:r>
              <a:rPr lang="en-US" sz="1400" dirty="0">
                <a:solidFill>
                  <a:schemeClr val="tx1"/>
                </a:solidFill>
              </a:rPr>
              <a:t>AI sorting, clear roles and deadline tracking make maintenance organized and accountable, and the backup rules keep it working even when the AI is offline.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Conclusion &amp; Future Scope</a:t>
            </a:r>
            <a:endParaRPr lang="en-US" sz="3800" dirty="0"/>
          </a:p>
        </p:txBody>
      </p:sp>
      <p:sp>
        <p:nvSpPr>
          <p:cNvPr id="3" name="card-299"/>
          <p:cNvSpPr/>
          <p:nvPr/>
        </p:nvSpPr>
        <p:spPr>
          <a:xfrm>
            <a:off x="548640" y="1463040"/>
            <a:ext cx="5408676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adge-300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30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794510"/>
            <a:ext cx="297180" cy="297180"/>
          </a:xfrm>
          <a:prstGeom prst="rect">
            <a:avLst/>
          </a:prstGeom>
        </p:spPr>
      </p:pic>
      <p:sp>
        <p:nvSpPr>
          <p:cNvPr id="6" name="text-302"/>
          <p:cNvSpPr txBox="1"/>
          <p:nvPr/>
        </p:nvSpPr>
        <p:spPr>
          <a:xfrm>
            <a:off x="16002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7" name="text-303"/>
          <p:cNvSpPr txBox="1"/>
          <p:nvPr/>
        </p:nvSpPr>
        <p:spPr>
          <a:xfrm>
            <a:off x="822960" y="251460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Objectives achieved: one system to report, sort, assign, fix and verify complaints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AI sorts complaints automatically, with a safe backup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Four roles, each with its own secure dashboard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Managers get live analytics to make decisions</a:t>
            </a:r>
            <a:endParaRPr lang="en-US" sz="1900" dirty="0"/>
          </a:p>
        </p:txBody>
      </p:sp>
      <p:sp>
        <p:nvSpPr>
          <p:cNvPr id="8" name="card-304"/>
          <p:cNvSpPr/>
          <p:nvPr/>
        </p:nvSpPr>
        <p:spPr>
          <a:xfrm>
            <a:off x="6231636" y="1463040"/>
            <a:ext cx="5408676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badge-305"/>
          <p:cNvSpPr/>
          <p:nvPr/>
        </p:nvSpPr>
        <p:spPr>
          <a:xfrm>
            <a:off x="6505956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30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546" y="1794510"/>
            <a:ext cx="297180" cy="297180"/>
          </a:xfrm>
          <a:prstGeom prst="rect">
            <a:avLst/>
          </a:prstGeom>
        </p:spPr>
      </p:pic>
      <p:sp>
        <p:nvSpPr>
          <p:cNvPr id="11" name="text-307"/>
          <p:cNvSpPr txBox="1"/>
          <p:nvPr/>
        </p:nvSpPr>
        <p:spPr>
          <a:xfrm>
            <a:off x="726948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accent2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2" name="text-308"/>
          <p:cNvSpPr txBox="1"/>
          <p:nvPr/>
        </p:nvSpPr>
        <p:spPr>
          <a:xfrm>
            <a:off x="6505956" y="251460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Mobile app for faster reporting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SMS and email alerts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Predict repeat problems from past data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Support for multiple campuses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Train our own AI model on campus data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EC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MS Campus Neon">
  <a:themeElements>
    <a:clrScheme name="AIMS Campus Neon">
      <a:dk1>
        <a:srgbClr val="F5F5F5"/>
      </a:dk1>
      <a:lt1>
        <a:srgbClr val="0A0C12"/>
      </a:lt1>
      <a:dk2>
        <a:srgbClr val="B9BEC8"/>
      </a:dk2>
      <a:lt2>
        <a:srgbClr val="141822"/>
      </a:lt2>
      <a:accent1>
        <a:srgbClr val="3CFF02"/>
      </a:accent1>
      <a:accent2>
        <a:srgbClr val="FF23A6"/>
      </a:accent2>
      <a:accent3>
        <a:srgbClr val="373E4B"/>
      </a:accent3>
      <a:accent4>
        <a:srgbClr val="FFC400"/>
      </a:accent4>
      <a:accent5>
        <a:srgbClr val="00E5FF"/>
      </a:accent5>
      <a:accent6>
        <a:srgbClr val="8A93A5"/>
      </a:accent6>
      <a:hlink>
        <a:srgbClr val="00E5FF"/>
      </a:hlink>
      <a:folHlink>
        <a:srgbClr val="FF23A6"/>
      </a:folHlink>
    </a:clrScheme>
    <a:fontScheme name="AIMS Campus Ne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1492</Words>
  <Application>Microsoft Office PowerPoint</Application>
  <PresentationFormat>Widescreen</PresentationFormat>
  <Paragraphs>278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AIMS Campus Neon</vt:lpstr>
      <vt:lpstr>PowerPoint Presentation</vt:lpstr>
      <vt:lpstr>Project Objectives</vt:lpstr>
      <vt:lpstr>Project Development Approach</vt:lpstr>
      <vt:lpstr>Project Implementation</vt:lpstr>
      <vt:lpstr>System Architecture</vt:lpstr>
      <vt:lpstr>Screens / Working Demonstration</vt:lpstr>
      <vt:lpstr>Functional Results</vt:lpstr>
      <vt:lpstr>Testing Results</vt:lpstr>
      <vt:lpstr>Performance Analysis</vt:lpstr>
      <vt:lpstr>Results &amp; Analysis</vt:lpstr>
      <vt:lpstr>Conclusion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AIMS-Campus – PBL Review 4</dc:title>
  <dc:subject>PptxGenJS Presentation</dc:subject>
  <dc:creator>AIMS-Campus Team</dc:creator>
  <cp:lastModifiedBy>Arabati Charan</cp:lastModifiedBy>
  <cp:revision>5</cp:revision>
  <dcterms:created xsi:type="dcterms:W3CDTF">2026-10-03T03:23:23Z</dcterms:created>
  <dcterms:modified xsi:type="dcterms:W3CDTF">2026-10-03T04:04:48Z</dcterms:modified>
</cp:coreProperties>
</file>